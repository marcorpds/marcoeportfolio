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Montserrat" panose="00000500000000000000" pitchFamily="2" charset="0"/>
      <p:regular r:id="rId20"/>
      <p:bold r:id="rId21"/>
      <p:italic r:id="rId22"/>
      <p:boldItalic r:id="rId23"/>
    </p:embeddedFont>
    <p:embeddedFont>
      <p:font typeface="Playfair Display" panose="00000500000000000000" pitchFamily="2" charset="0"/>
      <p:regular r:id="rId24"/>
      <p:bold r:id="rId25"/>
      <p:italic r:id="rId26"/>
    </p:embeddedFont>
    <p:embeddedFont>
      <p:font typeface="Playfair Display Bold" panose="00000800000000000000" charset="0"/>
      <p:regular r:id="rId27"/>
      <p:bold r:id="rId28"/>
    </p:embeddedFont>
    <p:embeddedFont>
      <p:font typeface="Playfair Display Italics" panose="020B0604020202020204" charset="0"/>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62" autoAdjust="0"/>
    <p:restoredTop sz="65917" autoAdjust="0"/>
  </p:normalViewPr>
  <p:slideViewPr>
    <p:cSldViewPr>
      <p:cViewPr varScale="1">
        <p:scale>
          <a:sx n="42" d="100"/>
          <a:sy n="42" d="100"/>
        </p:scale>
        <p:origin x="13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105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eira Da Silva, Marco R" userId="e4503bc6-e440-45f5-99b6-0eddc26140a5" providerId="ADAL" clId="{E271C08A-5402-4017-867E-CD46FA2D7831}"/>
    <pc:docChg chg="custSel modSld">
      <pc:chgData name="Pereira Da Silva, Marco R" userId="e4503bc6-e440-45f5-99b6-0eddc26140a5" providerId="ADAL" clId="{E271C08A-5402-4017-867E-CD46FA2D7831}" dt="2026-06-17T19:13:03.011" v="14" actId="20577"/>
      <pc:docMkLst>
        <pc:docMk/>
      </pc:docMkLst>
      <pc:sldChg chg="delSp modSp mod">
        <pc:chgData name="Pereira Da Silva, Marco R" userId="e4503bc6-e440-45f5-99b6-0eddc26140a5" providerId="ADAL" clId="{E271C08A-5402-4017-867E-CD46FA2D7831}" dt="2026-06-17T19:12:38.298" v="2" actId="478"/>
        <pc:sldMkLst>
          <pc:docMk/>
          <pc:sldMk cId="0" sldId="256"/>
        </pc:sldMkLst>
        <pc:spChg chg="del">
          <ac:chgData name="Pereira Da Silva, Marco R" userId="e4503bc6-e440-45f5-99b6-0eddc26140a5" providerId="ADAL" clId="{E271C08A-5402-4017-867E-CD46FA2D7831}" dt="2026-06-17T19:12:38.298" v="2" actId="478"/>
          <ac:spMkLst>
            <pc:docMk/>
            <pc:sldMk cId="0" sldId="256"/>
            <ac:spMk id="12" creationId="{00000000-0000-0000-0000-000000000000}"/>
          </ac:spMkLst>
        </pc:spChg>
        <pc:spChg chg="mod">
          <ac:chgData name="Pereira Da Silva, Marco R" userId="e4503bc6-e440-45f5-99b6-0eddc26140a5" providerId="ADAL" clId="{E271C08A-5402-4017-867E-CD46FA2D7831}" dt="2026-06-17T19:12:28.153" v="1" actId="20577"/>
          <ac:spMkLst>
            <pc:docMk/>
            <pc:sldMk cId="0" sldId="256"/>
            <ac:spMk id="14" creationId="{00000000-0000-0000-0000-000000000000}"/>
          </ac:spMkLst>
        </pc:spChg>
      </pc:sldChg>
      <pc:sldChg chg="modNotesTx">
        <pc:chgData name="Pereira Da Silva, Marco R" userId="e4503bc6-e440-45f5-99b6-0eddc26140a5" providerId="ADAL" clId="{E271C08A-5402-4017-867E-CD46FA2D7831}" dt="2026-06-17T19:13:03.011" v="14" actId="20577"/>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we’re presenting Smart Kitchen: </a:t>
            </a:r>
          </a:p>
          <a:p>
            <a:endParaRPr lang="en-US"/>
          </a:p>
          <a:p>
            <a:r>
              <a:rPr lang="en-US"/>
              <a:t>An app designed to stop good food from being thrown away simply because it gets forgotten. </a:t>
            </a:r>
          </a:p>
          <a:p>
            <a:endParaRPr lang="en-US"/>
          </a:p>
          <a:p>
            <a:r>
              <a:rPr lang="en-US"/>
              <a:t>We’ll open with a quick look at the scale of food waste globally and why households are one of the biggest contributors.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PROBLEM</a:t>
            </a:r>
          </a:p>
          <a:p>
            <a:r>
              <a:rPr lang="en-US" dirty="0"/>
              <a:t>Households often waste edible food because they lose track of what groceries they already have and when those items will expire. </a:t>
            </a:r>
          </a:p>
          <a:p>
            <a:endParaRPr lang="en-US" dirty="0"/>
          </a:p>
          <a:p>
            <a:r>
              <a:rPr lang="en-US" dirty="0"/>
              <a:t>When it’s time to cook, people generally don’t have the time, ideas, or motivation to plan meals around what needs using first. </a:t>
            </a:r>
          </a:p>
          <a:p>
            <a:endParaRPr lang="en-US" dirty="0"/>
          </a:p>
          <a:p>
            <a:r>
              <a:rPr lang="en-US" dirty="0"/>
              <a:t>Existing approaches like mental notes, shopping lists rely on too much manual effort. </a:t>
            </a:r>
          </a:p>
          <a:p>
            <a:endParaRPr lang="en-US" dirty="0"/>
          </a:p>
          <a:p>
            <a:r>
              <a:rPr lang="en-US" dirty="0"/>
              <a:t>As a result, food goes out of date before it’s used, leading to avoidable waste, unnecessary spending, and frustration for people who want to eat more efficiently and sustainably.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illustrated</a:t>
            </a:r>
          </a:p>
          <a:p>
            <a:endParaRPr lang="en-US" dirty="0"/>
          </a:p>
          <a:p>
            <a:r>
              <a:rPr lang="en-US" dirty="0"/>
              <a:t>1000 lost by each household, col 5%</a:t>
            </a:r>
          </a:p>
          <a:p>
            <a:endParaRPr lang="en-US" dirty="0"/>
          </a:p>
          <a:p>
            <a:r>
              <a:rPr lang="en-US" dirty="0"/>
              <a:t>behavioral, 72% 58%, 38%,  intention</a:t>
            </a:r>
          </a:p>
          <a:p>
            <a:endParaRPr lang="en-US" dirty="0"/>
          </a:p>
          <a:p>
            <a:r>
              <a:rPr lang="en-US" dirty="0"/>
              <a:t>niche, 45%, </a:t>
            </a:r>
          </a:p>
          <a:p>
            <a:r>
              <a:rPr lang="en-US" dirty="0" err="1"/>
              <a:t>germany</a:t>
            </a:r>
            <a:r>
              <a:rPr lang="en-US" dirty="0"/>
              <a:t>, food-r </a:t>
            </a:r>
            <a:r>
              <a:rPr lang="en-US" dirty="0" err="1"/>
              <a:t>digihab</a:t>
            </a:r>
            <a:endParaRPr lang="en-US" dirty="0"/>
          </a:p>
          <a:p>
            <a:endParaRPr lang="en-US" dirty="0"/>
          </a:p>
          <a:p>
            <a:r>
              <a:rPr lang="en-US" dirty="0"/>
              <a:t>convergence, awareness, pressure, adoption,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Solution​</a:t>
            </a:r>
          </a:p>
          <a:p>
            <a:endParaRPr lang="en-US" dirty="0"/>
          </a:p>
          <a:p>
            <a:r>
              <a:rPr lang="en-US" dirty="0"/>
              <a:t>Our solution to tackling household food waste is to create a food management app that would remind users when food items are about to expire and provide recipe suggestions accordingly. To achieve this, our application will include various features that will provide a reliable, intuitive, user-friendly experience.​</a:t>
            </a:r>
          </a:p>
          <a:p>
            <a:endParaRPr lang="en-US" dirty="0"/>
          </a:p>
          <a:p>
            <a:endParaRPr lang="en-US" dirty="0"/>
          </a:p>
          <a:p>
            <a:endParaRPr lang="en-US" dirty="0"/>
          </a:p>
          <a:p>
            <a:r>
              <a:rPr lang="en-US" dirty="0"/>
              <a:t>Scanning​</a:t>
            </a:r>
          </a:p>
          <a:p>
            <a:endParaRPr lang="en-US" dirty="0"/>
          </a:p>
          <a:p>
            <a:r>
              <a:rPr lang="en-US" dirty="0"/>
              <a:t>Starting with our smart-food scanning feature. Within the app, users will be able to access their live camera feed to scan each item when shopping. This scanning capability will utilize a barcode scanning API combined with AI-powered OCR text recognition to quickly detect and retrieve each items product information including the expiry date. By automating this process, it reduces the need for manual input from the user, saving time and frustration as commonly seen as a downfall from our competitors.​</a:t>
            </a:r>
          </a:p>
          <a:p>
            <a:endParaRPr lang="en-US" dirty="0"/>
          </a:p>
          <a:p>
            <a:endParaRPr lang="en-US" dirty="0"/>
          </a:p>
          <a:p>
            <a:endParaRPr lang="en-US" dirty="0"/>
          </a:p>
          <a:p>
            <a:r>
              <a:rPr lang="en-US" dirty="0"/>
              <a:t>Expiry Tracking and Notifications​</a:t>
            </a:r>
          </a:p>
          <a:p>
            <a:endParaRPr lang="en-US" dirty="0"/>
          </a:p>
          <a:p>
            <a:r>
              <a:rPr lang="en-US" dirty="0"/>
              <a:t>We will then use a backend scheduler to track each expiry date and trigger an automated push notification to the user reminding them when an item is about to expire. This ensures the user stays informed and organized, giving them enough time to use each item before they spoil, ultimately reducing waste, improving cost savings and encourage sustainable habits.​</a:t>
            </a:r>
          </a:p>
          <a:p>
            <a:endParaRPr lang="en-US" dirty="0"/>
          </a:p>
          <a:p>
            <a:r>
              <a:rPr lang="en-US" dirty="0"/>
              <a:t>​</a:t>
            </a:r>
          </a:p>
          <a:p>
            <a:endParaRPr lang="en-US" dirty="0"/>
          </a:p>
          <a:p>
            <a:r>
              <a:rPr lang="en-US" dirty="0"/>
              <a:t>Recipe suggestions ​</a:t>
            </a:r>
          </a:p>
          <a:p>
            <a:endParaRPr lang="en-US" dirty="0"/>
          </a:p>
          <a:p>
            <a:r>
              <a:rPr lang="en-US" dirty="0"/>
              <a:t>When the user is notified, they are also given the option to view recipe suggestions based on the expiring items. These recipes will be generated using an AI-powered recipe generator and will incorporate any dietary requirements or health goals that the user has setup within their user profile. This feature is beneficial as it not only supports nutritional guidance and personalization but also helps users save time by simplifying meal planning and decision making.​</a:t>
            </a:r>
          </a:p>
          <a:p>
            <a:endParaRPr lang="en-US" dirty="0"/>
          </a:p>
          <a:p>
            <a:r>
              <a:rPr lang="en-US" dirty="0"/>
              <a:t>​</a:t>
            </a:r>
          </a:p>
          <a:p>
            <a:endParaRPr lang="en-US" dirty="0"/>
          </a:p>
          <a:p>
            <a:r>
              <a:rPr lang="en-US" dirty="0"/>
              <a:t>User flow Diagram​</a:t>
            </a:r>
          </a:p>
          <a:p>
            <a:endParaRPr lang="en-US" dirty="0"/>
          </a:p>
          <a:p>
            <a:r>
              <a:rPr lang="en-US" dirty="0"/>
              <a:t>As you can see, we have also included a user flow diagram which shows the steps the user can take when using our app.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NoWaste</a:t>
            </a:r>
            <a:r>
              <a:rPr lang="en-US" dirty="0"/>
              <a:t> and </a:t>
            </a:r>
            <a:r>
              <a:rPr lang="en-US" dirty="0" err="1"/>
              <a:t>KitchenPal</a:t>
            </a:r>
            <a:r>
              <a:rPr lang="en-US" dirty="0"/>
              <a:t> both attempt to target the same issue we’re solving.</a:t>
            </a:r>
          </a:p>
          <a:p>
            <a:endParaRPr lang="en-US" dirty="0"/>
          </a:p>
          <a:p>
            <a:r>
              <a:rPr lang="en-US" dirty="0" err="1"/>
              <a:t>NoWaste</a:t>
            </a:r>
            <a:r>
              <a:rPr lang="en-US" dirty="0"/>
              <a:t> works like a digital pantry where users track what’s in their kitchen, and get reminders to use items in time. </a:t>
            </a:r>
          </a:p>
          <a:p>
            <a:endParaRPr lang="en-US" dirty="0"/>
          </a:p>
          <a:p>
            <a:r>
              <a:rPr lang="en-US" dirty="0" err="1"/>
              <a:t>KitchenPal</a:t>
            </a:r>
            <a:r>
              <a:rPr lang="en-US" dirty="0"/>
              <a:t> is more of an all-in-one kitchen assistant, combining pantry tracking with scanning and recipe suggestions to support meal planning using what you already have.</a:t>
            </a:r>
          </a:p>
          <a:p>
            <a:endParaRPr lang="en-US" dirty="0"/>
          </a:p>
          <a:p>
            <a:r>
              <a:rPr lang="en-US" dirty="0"/>
              <a:t>Our competitive advantage is that we take that same foundation, but make it faster, smarter, and easier to rely on. </a:t>
            </a:r>
          </a:p>
          <a:p>
            <a:endParaRPr lang="en-US" dirty="0"/>
          </a:p>
          <a:p>
            <a:r>
              <a:rPr lang="en-US" dirty="0"/>
              <a:t>A big reason people stop using inventory apps is the effort of keeping them updated.</a:t>
            </a:r>
          </a:p>
          <a:p>
            <a:endParaRPr lang="en-US" dirty="0"/>
          </a:p>
          <a:p>
            <a:r>
              <a:rPr lang="en-US" dirty="0"/>
              <a:t>In our app, users can still manually add items when needed, but the main feature is barcode/photo scanning that automatically pulls the item details and fills in the expiry date with minimal effort. </a:t>
            </a:r>
          </a:p>
          <a:p>
            <a:endParaRPr lang="en-US" dirty="0"/>
          </a:p>
          <a:p>
            <a:r>
              <a:rPr lang="en-US" dirty="0"/>
              <a:t>We then go a step further with AI-generated recipes that are </a:t>
            </a:r>
            <a:r>
              <a:rPr lang="en-US" dirty="0" err="1"/>
              <a:t>prioritised</a:t>
            </a:r>
            <a:r>
              <a:rPr lang="en-US" dirty="0"/>
              <a:t> around what’s closest to expiring. </a:t>
            </a:r>
          </a:p>
          <a:p>
            <a:endParaRPr lang="en-US" dirty="0"/>
          </a:p>
          <a:p>
            <a:r>
              <a:rPr lang="en-US" dirty="0"/>
              <a:t>This is what sets us apart to our competition.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Smart Kitchen’s values can be simmered down into 3 general qualities; </a:t>
            </a:r>
          </a:p>
          <a:p>
            <a:endParaRPr lang="en-US" dirty="0"/>
          </a:p>
          <a:p>
            <a:r>
              <a:rPr lang="en-US" dirty="0"/>
              <a:t>Convenience, features like Optical Character Recognition and barcode scanning make nutrition and food management easier </a:t>
            </a:r>
          </a:p>
          <a:p>
            <a:endParaRPr lang="en-US" dirty="0"/>
          </a:p>
          <a:p>
            <a:r>
              <a:rPr lang="en-US" dirty="0"/>
              <a:t>Accuracy, access to a large comprehensive food database with accurate nutritional and expiry info</a:t>
            </a:r>
          </a:p>
          <a:p>
            <a:endParaRPr lang="en-US" dirty="0"/>
          </a:p>
          <a:p>
            <a:r>
              <a:rPr lang="en-US" dirty="0"/>
              <a:t>And </a:t>
            </a:r>
            <a:r>
              <a:rPr lang="en-US" dirty="0" err="1"/>
              <a:t>Personalisation</a:t>
            </a:r>
            <a:r>
              <a:rPr lang="en-US" dirty="0"/>
              <a:t>, adhering to any diet preference and food intolerance the user may have,  may that  be Keto, High fiber or exclude allergens (milk, gluten), Smart Kitchen will adjust accordingly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Our demographic spans many groups and communities:</a:t>
            </a:r>
          </a:p>
          <a:p>
            <a:endParaRPr lang="en-US" dirty="0"/>
          </a:p>
          <a:p>
            <a:r>
              <a:rPr lang="en-US" dirty="0"/>
              <a:t>Young adults and students like ourselves aware of the pressure to need to  be “green” , conscious of environmental issues</a:t>
            </a:r>
          </a:p>
          <a:p>
            <a:endParaRPr lang="en-US" dirty="0"/>
          </a:p>
          <a:p>
            <a:r>
              <a:rPr lang="en-US" dirty="0"/>
              <a:t>There are also new parents and families, aiming to improve living standards and teach their children those same ideals</a:t>
            </a:r>
          </a:p>
          <a:p>
            <a:endParaRPr lang="en-US" dirty="0"/>
          </a:p>
          <a:p>
            <a:r>
              <a:rPr lang="en-US" dirty="0"/>
              <a:t>Then the elderly, primarily focusing on their long-term health and reducing the chance of illnesses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Our customers, values and features has been detailed, now to focus on how we interact with our customers throughout the cycle of usage</a:t>
            </a:r>
          </a:p>
          <a:p>
            <a:endParaRPr lang="en-US" dirty="0"/>
          </a:p>
          <a:p>
            <a:r>
              <a:rPr lang="en-US" dirty="0"/>
              <a:t>Customer acquisition primarily happens from app stores and search engines, individuals searching key terms like food management, allergy safe and food tracking</a:t>
            </a:r>
          </a:p>
          <a:p>
            <a:r>
              <a:rPr lang="en-US" dirty="0"/>
              <a:t>But we will also have influencers and content creators referring viewers to try out our service</a:t>
            </a:r>
          </a:p>
          <a:p>
            <a:r>
              <a:rPr lang="en-US" dirty="0"/>
              <a:t>Aswell as host events in locations, such as supermarkets and farmer’s markets, which coincide with our service and allow the public to trial our app and its features, </a:t>
            </a:r>
          </a:p>
          <a:p>
            <a:endParaRPr lang="en-US" dirty="0"/>
          </a:p>
          <a:p>
            <a:r>
              <a:rPr lang="en-US" dirty="0"/>
              <a:t>Once users join, loyalty is built through a reward system, providing discounts and offers to use on groceries</a:t>
            </a:r>
          </a:p>
          <a:p>
            <a:r>
              <a:rPr lang="en-US" dirty="0"/>
              <a:t>retention is sustained by becoming a regular habit, relying on daily usage, user logging and reminders when food expires and our comprehensive food database ensures returning users</a:t>
            </a:r>
          </a:p>
          <a:p>
            <a:endParaRPr lang="en-US" dirty="0"/>
          </a:p>
          <a:p>
            <a:r>
              <a:rPr lang="en-US" dirty="0"/>
              <a:t>users satisfied with the service will leave positive reviews and recommend us to other communities and relatives,</a:t>
            </a:r>
          </a:p>
          <a:p>
            <a:r>
              <a:rPr lang="en-US" dirty="0"/>
              <a:t>Larger engagement may lead to partnerships, mainly healthcare providers, supermarkets and other health apps, namely integration with smart bands, watches and ring providers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evaluate</a:t>
            </a:r>
          </a:p>
          <a:p>
            <a:r>
              <a:rPr lang="en-US" dirty="0"/>
              <a:t>pol - un, halve, wrap</a:t>
            </a:r>
          </a:p>
          <a:p>
            <a:r>
              <a:rPr lang="en-US" dirty="0"/>
              <a:t>eco - help financially, 1000</a:t>
            </a:r>
          </a:p>
          <a:p>
            <a:r>
              <a:rPr lang="en-US" dirty="0"/>
              <a:t>soc - rising, healthier, automated </a:t>
            </a:r>
            <a:r>
              <a:rPr lang="en-US" dirty="0" err="1"/>
              <a:t>ms&amp;t</a:t>
            </a:r>
            <a:r>
              <a:rPr lang="en-US" dirty="0"/>
              <a:t>, informed</a:t>
            </a:r>
          </a:p>
          <a:p>
            <a:r>
              <a:rPr lang="en-US" dirty="0"/>
              <a:t>tec - </a:t>
            </a:r>
            <a:r>
              <a:rPr lang="en-US" dirty="0" err="1"/>
              <a:t>ocr</a:t>
            </a:r>
            <a:r>
              <a:rPr lang="en-US" dirty="0"/>
              <a:t>, machine</a:t>
            </a:r>
          </a:p>
          <a:p>
            <a:r>
              <a:rPr lang="en-US" dirty="0"/>
              <a:t>leg - </a:t>
            </a:r>
            <a:r>
              <a:rPr lang="en-US" dirty="0" err="1"/>
              <a:t>gdpr</a:t>
            </a:r>
            <a:r>
              <a:rPr lang="en-US" dirty="0"/>
              <a:t>, </a:t>
            </a:r>
            <a:r>
              <a:rPr lang="en-US" dirty="0" err="1"/>
              <a:t>asa</a:t>
            </a:r>
            <a:endParaRPr lang="en-US" dirty="0"/>
          </a:p>
          <a:p>
            <a:r>
              <a:rPr lang="en-US" dirty="0"/>
              <a:t>env - net zero, emissions</a:t>
            </a:r>
          </a:p>
          <a:p>
            <a:endParaRPr lang="en-US" dirty="0"/>
          </a:p>
          <a:p>
            <a:r>
              <a:rPr lang="en-US" dirty="0"/>
              <a:t>swot, market</a:t>
            </a:r>
          </a:p>
          <a:p>
            <a:r>
              <a:rPr lang="en-US" dirty="0"/>
              <a:t>value, save, eat</a:t>
            </a:r>
          </a:p>
          <a:p>
            <a:r>
              <a:rPr lang="en-US" dirty="0"/>
              <a:t>challenges, retention, dev,  </a:t>
            </a:r>
            <a:r>
              <a:rPr lang="en-US" dirty="0" err="1"/>
              <a:t>ecosys</a:t>
            </a:r>
            <a:endParaRPr lang="en-US" dirty="0"/>
          </a:p>
          <a:p>
            <a:r>
              <a:rPr lang="en-US" dirty="0"/>
              <a:t>grow institutional, tech, strategically lead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Scalability​</a:t>
            </a:r>
          </a:p>
          <a:p>
            <a:endParaRPr lang="en-US" dirty="0"/>
          </a:p>
          <a:p>
            <a:r>
              <a:rPr lang="en-US" dirty="0"/>
              <a:t>As our application grows, it’s important to consider scalable features that will enhance user experience and handle increased growth and demand.​</a:t>
            </a:r>
          </a:p>
          <a:p>
            <a:endParaRPr lang="en-US" dirty="0"/>
          </a:p>
          <a:p>
            <a:r>
              <a:rPr lang="en-US" dirty="0"/>
              <a:t>​</a:t>
            </a:r>
          </a:p>
          <a:p>
            <a:endParaRPr lang="en-US" dirty="0"/>
          </a:p>
          <a:p>
            <a:r>
              <a:rPr lang="en-US" dirty="0"/>
              <a:t>AI meal planner and shopping list integration​</a:t>
            </a:r>
          </a:p>
          <a:p>
            <a:endParaRPr lang="en-US" dirty="0"/>
          </a:p>
          <a:p>
            <a:r>
              <a:rPr lang="en-US" dirty="0"/>
              <a:t>One feature we are considering is the integration of an AI-powered meal planner paired with an automated shopping list. Our app will provide users with a detailed weekly meal plan tailored towards their user profile and auto populate a shopping list based of the ingredients used within the plan, saving time and improving convenience.​</a:t>
            </a:r>
          </a:p>
          <a:p>
            <a:endParaRPr lang="en-US" dirty="0"/>
          </a:p>
          <a:p>
            <a:r>
              <a:rPr lang="en-US" dirty="0"/>
              <a:t>​</a:t>
            </a:r>
          </a:p>
          <a:p>
            <a:endParaRPr lang="en-US" dirty="0"/>
          </a:p>
          <a:p>
            <a:r>
              <a:rPr lang="en-US" dirty="0"/>
              <a:t>Grocery delivery Services ​</a:t>
            </a:r>
          </a:p>
          <a:p>
            <a:endParaRPr lang="en-US" dirty="0"/>
          </a:p>
          <a:p>
            <a:r>
              <a:rPr lang="en-US" dirty="0"/>
              <a:t>Another feature we have considered is the integration of grocery delivery services. This will allow users to send their automated shopping lists straight to large supermarkets saving time and effort. By partnering with large supermarkets, this feature would not only create additional value and revenue but transform our app from basic food tracking to an end-end food management platform whilst reducing food waste.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In conclusion, we have identified a clear and well-evidenced problem, a defined target audience, and a solution with strong practical potential. </a:t>
            </a:r>
          </a:p>
          <a:p>
            <a:endParaRPr lang="en-US" dirty="0"/>
          </a:p>
          <a:p>
            <a:r>
              <a:rPr lang="en-US" dirty="0"/>
              <a:t>Our analysis shows clear demand in this market, while also revealing a key weakness in many existing approaches.</a:t>
            </a:r>
          </a:p>
          <a:p>
            <a:endParaRPr lang="en-US" dirty="0"/>
          </a:p>
          <a:p>
            <a:endParaRPr lang="en-US" dirty="0"/>
          </a:p>
          <a:p>
            <a:r>
              <a:rPr lang="en-US" dirty="0"/>
              <a:t>Overall, this project has a credible route to measurable impact in reducing avoidable food waste, lowering household costs, and supporting healthier everyday choices—while remaining scalable for future development.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Situation</a:t>
            </a:r>
          </a:p>
          <a:p>
            <a:r>
              <a:rPr lang="en-US" dirty="0"/>
              <a:t>When creating our initial business idea, we </a:t>
            </a:r>
            <a:r>
              <a:rPr lang="en-US" dirty="0" err="1"/>
              <a:t>realised</a:t>
            </a:r>
            <a:r>
              <a:rPr lang="en-US" dirty="0"/>
              <a:t> through market research and discussion that it was impractical. This left us behind schedule as we had to iterate back to the idea stage again.</a:t>
            </a:r>
          </a:p>
          <a:p>
            <a:endParaRPr lang="en-US" dirty="0"/>
          </a:p>
          <a:p>
            <a:r>
              <a:rPr lang="en-US" dirty="0"/>
              <a:t>Action</a:t>
            </a:r>
          </a:p>
          <a:p>
            <a:r>
              <a:rPr lang="en-US" dirty="0"/>
              <a:t>To overcome this, we set a deadline for everyone to do individual research on our idea and </a:t>
            </a:r>
            <a:r>
              <a:rPr lang="en-US" dirty="0" err="1"/>
              <a:t>finalised</a:t>
            </a:r>
            <a:r>
              <a:rPr lang="en-US" dirty="0"/>
              <a:t> our idea on a Teams call.</a:t>
            </a:r>
          </a:p>
          <a:p>
            <a:endParaRPr lang="en-US" dirty="0"/>
          </a:p>
          <a:p>
            <a:r>
              <a:rPr lang="en-US" dirty="0"/>
              <a:t>Result</a:t>
            </a:r>
          </a:p>
          <a:p>
            <a:r>
              <a:rPr lang="en-US" dirty="0"/>
              <a:t>We then assigned individual roles and tasks, and to ensure timely delivery we </a:t>
            </a:r>
            <a:r>
              <a:rPr lang="en-US" dirty="0" err="1"/>
              <a:t>utilised</a:t>
            </a:r>
            <a:r>
              <a:rPr lang="en-US" dirty="0"/>
              <a:t> the timebox method.</a:t>
            </a:r>
          </a:p>
          <a:p>
            <a:endParaRPr lang="en-US" dirty="0"/>
          </a:p>
          <a:p>
            <a:r>
              <a:rPr lang="en-US" dirty="0"/>
              <a:t>Reflection</a:t>
            </a:r>
          </a:p>
          <a:p>
            <a:r>
              <a:rPr lang="en-US" dirty="0"/>
              <a:t>Overcoming this challenge strengthened our team collaboration, responsibility, and communication abilities, and showed strong adaptability.</a:t>
            </a:r>
          </a:p>
          <a:p>
            <a:endParaRPr lang="en-US" dirty="0"/>
          </a:p>
          <a:p>
            <a:endParaRPr lang="en-US" dirty="0"/>
          </a:p>
          <a:p>
            <a:endParaRPr lang="en-US" dirty="0"/>
          </a:p>
          <a:p>
            <a:r>
              <a:rPr lang="en-US" dirty="0"/>
              <a:t> </a:t>
            </a:r>
          </a:p>
          <a:p>
            <a:r>
              <a:rPr lang="en-US" dirty="0"/>
              <a:t>workload - evenly - underestimated - some - research</a:t>
            </a:r>
          </a:p>
          <a:p>
            <a:endParaRPr lang="en-US" dirty="0"/>
          </a:p>
          <a:p>
            <a:r>
              <a:rPr lang="en-US" dirty="0"/>
              <a:t>overcome - idea - business - step - structure - logically sections - assign - equally - overlap</a:t>
            </a:r>
          </a:p>
          <a:p>
            <a:endParaRPr lang="en-US" dirty="0"/>
          </a:p>
          <a:p>
            <a:r>
              <a:rPr lang="en-US" dirty="0"/>
              <a:t>confident - understanding - done -  deadlines - targets.</a:t>
            </a:r>
          </a:p>
          <a:p>
            <a:endParaRPr lang="en-US" dirty="0"/>
          </a:p>
          <a:p>
            <a:r>
              <a:rPr lang="en-US" dirty="0" err="1"/>
              <a:t>organisation</a:t>
            </a:r>
            <a:r>
              <a:rPr lang="en-US" dirty="0"/>
              <a:t> - logical </a:t>
            </a:r>
            <a:r>
              <a:rPr lang="en-US" dirty="0" err="1"/>
              <a:t>ps</a:t>
            </a:r>
            <a:r>
              <a:rPr lang="en-US" dirty="0"/>
              <a:t> - peer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sv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4.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sv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sv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5.svg"/><Relationship Id="rId10" Type="http://schemas.openxmlformats.org/officeDocument/2006/relationships/image" Target="../media/image33.png"/><Relationship Id="rId4" Type="http://schemas.openxmlformats.org/officeDocument/2006/relationships/image" Target="../media/image4.sv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svg"/><Relationship Id="rId7" Type="http://schemas.openxmlformats.org/officeDocument/2006/relationships/image" Target="../media/image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47.sv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604436"/>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grpSp>
      <p:sp>
        <p:nvSpPr>
          <p:cNvPr id="5" name="Freeform 5"/>
          <p:cNvSpPr/>
          <p:nvPr/>
        </p:nvSpPr>
        <p:spPr>
          <a:xfrm rot="3162827">
            <a:off x="5478392" y="50545"/>
            <a:ext cx="7006625" cy="4114800"/>
          </a:xfrm>
          <a:custGeom>
            <a:avLst/>
            <a:gdLst/>
            <a:ahLst/>
            <a:cxnLst/>
            <a:rect l="l" t="t" r="r" b="b"/>
            <a:pathLst>
              <a:path w="7006625" h="4114800">
                <a:moveTo>
                  <a:pt x="0" y="0"/>
                </a:moveTo>
                <a:lnTo>
                  <a:pt x="7006626" y="0"/>
                </a:lnTo>
                <a:lnTo>
                  <a:pt x="7006626"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2445340" y="-604436"/>
            <a:ext cx="7652145" cy="9311238"/>
          </a:xfrm>
          <a:custGeom>
            <a:avLst/>
            <a:gdLst/>
            <a:ahLst/>
            <a:cxnLst/>
            <a:rect l="l" t="t" r="r" b="b"/>
            <a:pathLst>
              <a:path w="7652145" h="9311238">
                <a:moveTo>
                  <a:pt x="0" y="0"/>
                </a:moveTo>
                <a:lnTo>
                  <a:pt x="7652145" y="0"/>
                </a:lnTo>
                <a:lnTo>
                  <a:pt x="7652145" y="9311239"/>
                </a:lnTo>
                <a:lnTo>
                  <a:pt x="0" y="93112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1052258" y="9091595"/>
            <a:ext cx="20392515" cy="3086100"/>
            <a:chOff x="0" y="0"/>
            <a:chExt cx="5370868" cy="812800"/>
          </a:xfrm>
        </p:grpSpPr>
        <p:sp>
          <p:nvSpPr>
            <p:cNvPr id="8" name="Freeform 8"/>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9" name="TextBox 9"/>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10" name="Freeform 10"/>
          <p:cNvSpPr/>
          <p:nvPr/>
        </p:nvSpPr>
        <p:spPr>
          <a:xfrm>
            <a:off x="10307699" y="7658859"/>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594836" y="3637418"/>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1556482" y="2545625"/>
            <a:ext cx="6947951" cy="2597875"/>
          </a:xfrm>
          <a:prstGeom prst="rect">
            <a:avLst/>
          </a:prstGeom>
        </p:spPr>
        <p:txBody>
          <a:bodyPr lIns="0" tIns="0" rIns="0" bIns="0" rtlCol="0" anchor="t">
            <a:spAutoFit/>
          </a:bodyPr>
          <a:lstStyle/>
          <a:p>
            <a:pPr algn="just">
              <a:lnSpc>
                <a:spcPts val="10028"/>
              </a:lnSpc>
            </a:pPr>
            <a:r>
              <a:rPr lang="en-US" sz="10028" b="1">
                <a:solidFill>
                  <a:srgbClr val="2E7040"/>
                </a:solidFill>
                <a:latin typeface="Playfair Display Bold"/>
                <a:ea typeface="Playfair Display Bold"/>
                <a:cs typeface="Playfair Display Bold"/>
                <a:sym typeface="Playfair Display Bold"/>
              </a:rPr>
              <a:t>Smart Kitchen</a:t>
            </a:r>
          </a:p>
        </p:txBody>
      </p:sp>
      <p:sp>
        <p:nvSpPr>
          <p:cNvPr id="14" name="TextBox 14"/>
          <p:cNvSpPr txBox="1"/>
          <p:nvPr/>
        </p:nvSpPr>
        <p:spPr>
          <a:xfrm>
            <a:off x="1556482" y="5885413"/>
            <a:ext cx="6775949" cy="939360"/>
          </a:xfrm>
          <a:prstGeom prst="rect">
            <a:avLst/>
          </a:prstGeom>
        </p:spPr>
        <p:txBody>
          <a:bodyPr lIns="0" tIns="0" rIns="0" bIns="0" rtlCol="0" anchor="t">
            <a:spAutoFit/>
          </a:bodyPr>
          <a:lstStyle/>
          <a:p>
            <a:pPr algn="l">
              <a:lnSpc>
                <a:spcPts val="1837"/>
              </a:lnSpc>
            </a:pPr>
            <a:endParaRPr lang="en-US" sz="2326" dirty="0">
              <a:solidFill>
                <a:srgbClr val="000000"/>
              </a:solidFill>
              <a:latin typeface="Montserrat"/>
              <a:ea typeface="Montserrat"/>
              <a:cs typeface="Montserrat"/>
              <a:sym typeface="Montserrat"/>
            </a:endParaRPr>
          </a:p>
          <a:p>
            <a:pPr algn="l">
              <a:lnSpc>
                <a:spcPts val="1837"/>
              </a:lnSpc>
            </a:pPr>
            <a:r>
              <a:rPr lang="en-US" sz="2326" dirty="0">
                <a:solidFill>
                  <a:srgbClr val="000000"/>
                </a:solidFill>
                <a:latin typeface="Montserrat"/>
                <a:ea typeface="Montserrat"/>
                <a:cs typeface="Montserrat"/>
                <a:sym typeface="Montserrat"/>
              </a:rPr>
              <a:t>Marco Pereira Da Silva - K2432045</a:t>
            </a:r>
          </a:p>
          <a:p>
            <a:pPr algn="l">
              <a:lnSpc>
                <a:spcPts val="1837"/>
              </a:lnSpc>
            </a:pPr>
            <a:endParaRPr lang="en-US" sz="2326" dirty="0">
              <a:solidFill>
                <a:srgbClr val="000000"/>
              </a:solidFill>
              <a:latin typeface="Montserrat"/>
              <a:ea typeface="Montserrat"/>
              <a:cs typeface="Montserrat"/>
              <a:sym typeface="Montserrat"/>
            </a:endParaRPr>
          </a:p>
          <a:p>
            <a:pPr algn="l">
              <a:lnSpc>
                <a:spcPts val="1837"/>
              </a:lnSpc>
            </a:pPr>
            <a:endParaRPr lang="en-US" sz="2326" dirty="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604436"/>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3307077" y="3917962"/>
            <a:ext cx="11935536" cy="2773107"/>
            <a:chOff x="0" y="0"/>
            <a:chExt cx="3143516" cy="730366"/>
          </a:xfrm>
        </p:grpSpPr>
        <p:sp>
          <p:nvSpPr>
            <p:cNvPr id="6" name="Freeform 6"/>
            <p:cNvSpPr/>
            <p:nvPr/>
          </p:nvSpPr>
          <p:spPr>
            <a:xfrm>
              <a:off x="0" y="0"/>
              <a:ext cx="3143516" cy="730366"/>
            </a:xfrm>
            <a:custGeom>
              <a:avLst/>
              <a:gdLst/>
              <a:ahLst/>
              <a:cxnLst/>
              <a:rect l="l" t="t" r="r" b="b"/>
              <a:pathLst>
                <a:path w="3143516" h="730366">
                  <a:moveTo>
                    <a:pt x="11027" y="0"/>
                  </a:moveTo>
                  <a:lnTo>
                    <a:pt x="3132489" y="0"/>
                  </a:lnTo>
                  <a:cubicBezTo>
                    <a:pt x="3135413" y="0"/>
                    <a:pt x="3138218" y="1162"/>
                    <a:pt x="3140286" y="3230"/>
                  </a:cubicBezTo>
                  <a:cubicBezTo>
                    <a:pt x="3142354" y="5298"/>
                    <a:pt x="3143516" y="8102"/>
                    <a:pt x="3143516" y="11027"/>
                  </a:cubicBezTo>
                  <a:lnTo>
                    <a:pt x="3143516" y="719339"/>
                  </a:lnTo>
                  <a:cubicBezTo>
                    <a:pt x="3143516" y="722263"/>
                    <a:pt x="3142354" y="725068"/>
                    <a:pt x="3140286" y="727136"/>
                  </a:cubicBezTo>
                  <a:cubicBezTo>
                    <a:pt x="3138218" y="729204"/>
                    <a:pt x="3135413" y="730366"/>
                    <a:pt x="3132489" y="730366"/>
                  </a:cubicBezTo>
                  <a:lnTo>
                    <a:pt x="11027" y="730366"/>
                  </a:lnTo>
                  <a:cubicBezTo>
                    <a:pt x="8102" y="730366"/>
                    <a:pt x="5298" y="729204"/>
                    <a:pt x="3230" y="727136"/>
                  </a:cubicBezTo>
                  <a:cubicBezTo>
                    <a:pt x="1162" y="725068"/>
                    <a:pt x="0" y="722263"/>
                    <a:pt x="0" y="719339"/>
                  </a:cubicBezTo>
                  <a:lnTo>
                    <a:pt x="0" y="11027"/>
                  </a:lnTo>
                  <a:cubicBezTo>
                    <a:pt x="0" y="8102"/>
                    <a:pt x="1162" y="5298"/>
                    <a:pt x="3230" y="3230"/>
                  </a:cubicBezTo>
                  <a:cubicBezTo>
                    <a:pt x="5298" y="1162"/>
                    <a:pt x="8102" y="0"/>
                    <a:pt x="11027" y="0"/>
                  </a:cubicBezTo>
                  <a:close/>
                </a:path>
              </a:pathLst>
            </a:custGeom>
            <a:solidFill>
              <a:srgbClr val="FFE4A9"/>
            </a:solidFill>
          </p:spPr>
          <p:txBody>
            <a:bodyPr/>
            <a:lstStyle/>
            <a:p>
              <a:endParaRPr lang="en-US"/>
            </a:p>
          </p:txBody>
        </p:sp>
        <p:sp>
          <p:nvSpPr>
            <p:cNvPr id="7" name="TextBox 7"/>
            <p:cNvSpPr txBox="1"/>
            <p:nvPr/>
          </p:nvSpPr>
          <p:spPr>
            <a:xfrm>
              <a:off x="0" y="-38100"/>
              <a:ext cx="3143516" cy="768466"/>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832418" y="4426299"/>
            <a:ext cx="5433406" cy="7200900"/>
          </a:xfrm>
          <a:custGeom>
            <a:avLst/>
            <a:gdLst/>
            <a:ahLst/>
            <a:cxnLst/>
            <a:rect l="l" t="t" r="r" b="b"/>
            <a:pathLst>
              <a:path w="5433406" h="7200900">
                <a:moveTo>
                  <a:pt x="0" y="0"/>
                </a:moveTo>
                <a:lnTo>
                  <a:pt x="5433406" y="0"/>
                </a:lnTo>
                <a:lnTo>
                  <a:pt x="5433406"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9" name="Group 9"/>
          <p:cNvGrpSpPr/>
          <p:nvPr/>
        </p:nvGrpSpPr>
        <p:grpSpPr>
          <a:xfrm>
            <a:off x="-1052258" y="9091595"/>
            <a:ext cx="20392515" cy="3086100"/>
            <a:chOff x="0" y="0"/>
            <a:chExt cx="5370868" cy="812800"/>
          </a:xfrm>
        </p:grpSpPr>
        <p:sp>
          <p:nvSpPr>
            <p:cNvPr id="10" name="Freeform 10"/>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11" name="TextBox 11"/>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12" name="Freeform 12"/>
          <p:cNvSpPr/>
          <p:nvPr/>
        </p:nvSpPr>
        <p:spPr>
          <a:xfrm rot="291705">
            <a:off x="1145980" y="679622"/>
            <a:ext cx="2302717" cy="2865371"/>
          </a:xfrm>
          <a:custGeom>
            <a:avLst/>
            <a:gdLst/>
            <a:ahLst/>
            <a:cxnLst/>
            <a:rect l="l" t="t" r="r" b="b"/>
            <a:pathLst>
              <a:path w="2302717" h="2865371">
                <a:moveTo>
                  <a:pt x="0" y="0"/>
                </a:moveTo>
                <a:lnTo>
                  <a:pt x="2302717" y="0"/>
                </a:lnTo>
                <a:lnTo>
                  <a:pt x="2302717" y="2865371"/>
                </a:lnTo>
                <a:lnTo>
                  <a:pt x="0" y="28653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13"/>
          <p:cNvSpPr/>
          <p:nvPr/>
        </p:nvSpPr>
        <p:spPr>
          <a:xfrm rot="2247298">
            <a:off x="14778728" y="7284647"/>
            <a:ext cx="4538402" cy="3303058"/>
          </a:xfrm>
          <a:custGeom>
            <a:avLst/>
            <a:gdLst/>
            <a:ahLst/>
            <a:cxnLst/>
            <a:rect l="l" t="t" r="r" b="b"/>
            <a:pathLst>
              <a:path w="4538402" h="3303058">
                <a:moveTo>
                  <a:pt x="0" y="0"/>
                </a:moveTo>
                <a:lnTo>
                  <a:pt x="4538402" y="0"/>
                </a:lnTo>
                <a:lnTo>
                  <a:pt x="4538402" y="3303058"/>
                </a:lnTo>
                <a:lnTo>
                  <a:pt x="0" y="33030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rot="-209809">
            <a:off x="5525212" y="-1632948"/>
            <a:ext cx="7237576" cy="4447820"/>
          </a:xfrm>
          <a:custGeom>
            <a:avLst/>
            <a:gdLst/>
            <a:ahLst/>
            <a:cxnLst/>
            <a:rect l="l" t="t" r="r" b="b"/>
            <a:pathLst>
              <a:path w="7237576" h="4447820">
                <a:moveTo>
                  <a:pt x="0" y="0"/>
                </a:moveTo>
                <a:lnTo>
                  <a:pt x="7237576" y="0"/>
                </a:lnTo>
                <a:lnTo>
                  <a:pt x="7237576" y="4447819"/>
                </a:lnTo>
                <a:lnTo>
                  <a:pt x="0" y="444781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TextBox 15"/>
          <p:cNvSpPr txBox="1"/>
          <p:nvPr/>
        </p:nvSpPr>
        <p:spPr>
          <a:xfrm>
            <a:off x="3716071" y="4459914"/>
            <a:ext cx="10855858" cy="2480032"/>
          </a:xfrm>
          <a:prstGeom prst="rect">
            <a:avLst/>
          </a:prstGeom>
        </p:spPr>
        <p:txBody>
          <a:bodyPr lIns="0" tIns="0" rIns="0" bIns="0" rtlCol="0" anchor="t">
            <a:spAutoFit/>
          </a:bodyPr>
          <a:lstStyle/>
          <a:p>
            <a:pPr algn="ctr">
              <a:lnSpc>
                <a:spcPts val="3901"/>
              </a:lnSpc>
            </a:pPr>
            <a:r>
              <a:rPr lang="en-US" sz="3024">
                <a:solidFill>
                  <a:srgbClr val="000000"/>
                </a:solidFill>
                <a:latin typeface="Playfair Display"/>
                <a:ea typeface="Playfair Display"/>
                <a:cs typeface="Playfair Display"/>
                <a:sym typeface="Playfair Display"/>
              </a:rPr>
              <a:t>Today we’re presenting Smart Kitchen: </a:t>
            </a:r>
          </a:p>
          <a:p>
            <a:pPr algn="ctr">
              <a:lnSpc>
                <a:spcPts val="3901"/>
              </a:lnSpc>
            </a:pPr>
            <a:r>
              <a:rPr lang="en-US" sz="3024">
                <a:solidFill>
                  <a:srgbClr val="000000"/>
                </a:solidFill>
                <a:latin typeface="Playfair Display"/>
                <a:ea typeface="Playfair Display"/>
                <a:cs typeface="Playfair Display"/>
                <a:sym typeface="Playfair Display"/>
              </a:rPr>
              <a:t> An app designed to stop good food from being thrown away simply because it gets forgotten. </a:t>
            </a:r>
          </a:p>
          <a:p>
            <a:pPr algn="ctr">
              <a:lnSpc>
                <a:spcPts val="3901"/>
              </a:lnSpc>
            </a:pPr>
            <a:endParaRPr lang="en-US" sz="3024">
              <a:solidFill>
                <a:srgbClr val="000000"/>
              </a:solidFill>
              <a:latin typeface="Playfair Display"/>
              <a:ea typeface="Playfair Display"/>
              <a:cs typeface="Playfair Display"/>
              <a:sym typeface="Playfair Display"/>
            </a:endParaRPr>
          </a:p>
          <a:p>
            <a:pPr algn="ctr">
              <a:lnSpc>
                <a:spcPts val="3901"/>
              </a:lnSpc>
            </a:pPr>
            <a:endParaRPr lang="en-US" sz="3024">
              <a:solidFill>
                <a:srgbClr val="000000"/>
              </a:solidFill>
              <a:latin typeface="Playfair Display"/>
              <a:ea typeface="Playfair Display"/>
              <a:cs typeface="Playfair Display"/>
              <a:sym typeface="Playfair Display"/>
            </a:endParaRPr>
          </a:p>
        </p:txBody>
      </p:sp>
      <p:sp>
        <p:nvSpPr>
          <p:cNvPr id="16" name="TextBox 16"/>
          <p:cNvSpPr txBox="1"/>
          <p:nvPr/>
        </p:nvSpPr>
        <p:spPr>
          <a:xfrm>
            <a:off x="4600988" y="2717812"/>
            <a:ext cx="9086023" cy="1200150"/>
          </a:xfrm>
          <a:prstGeom prst="rect">
            <a:avLst/>
          </a:prstGeom>
        </p:spPr>
        <p:txBody>
          <a:bodyPr lIns="0" tIns="0" rIns="0" bIns="0" rtlCol="0" anchor="t">
            <a:spAutoFit/>
          </a:bodyPr>
          <a:lstStyle/>
          <a:p>
            <a:pPr algn="ctr">
              <a:lnSpc>
                <a:spcPts val="9000"/>
              </a:lnSpc>
            </a:pPr>
            <a:r>
              <a:rPr lang="en-US" sz="9000" b="1">
                <a:solidFill>
                  <a:srgbClr val="2E7040"/>
                </a:solidFill>
                <a:latin typeface="Playfair Display Bold"/>
                <a:ea typeface="Playfair Display Bold"/>
                <a:cs typeface="Playfair Display Bold"/>
                <a:sym typeface="Playfair Display Bold"/>
              </a:rPr>
              <a:t>Introduction</a:t>
            </a:r>
          </a:p>
        </p:txBody>
      </p:sp>
      <p:sp>
        <p:nvSpPr>
          <p:cNvPr id="17" name="Freeform 17"/>
          <p:cNvSpPr/>
          <p:nvPr/>
        </p:nvSpPr>
        <p:spPr>
          <a:xfrm>
            <a:off x="13256769" y="3637418"/>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8" name="Freeform 18"/>
          <p:cNvSpPr/>
          <p:nvPr/>
        </p:nvSpPr>
        <p:spPr>
          <a:xfrm>
            <a:off x="4731833" y="3637418"/>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sp>
        <p:nvSpPr>
          <p:cNvPr id="2" name="Freeform 2"/>
          <p:cNvSpPr/>
          <p:nvPr/>
        </p:nvSpPr>
        <p:spPr>
          <a:xfrm>
            <a:off x="6767610" y="993081"/>
            <a:ext cx="11272849" cy="6227857"/>
          </a:xfrm>
          <a:custGeom>
            <a:avLst/>
            <a:gdLst/>
            <a:ahLst/>
            <a:cxnLst/>
            <a:rect l="l" t="t" r="r" b="b"/>
            <a:pathLst>
              <a:path w="11272849" h="6227857">
                <a:moveTo>
                  <a:pt x="0" y="0"/>
                </a:moveTo>
                <a:lnTo>
                  <a:pt x="11272849" y="0"/>
                </a:lnTo>
                <a:lnTo>
                  <a:pt x="11272849" y="6227857"/>
                </a:lnTo>
                <a:lnTo>
                  <a:pt x="0" y="6227857"/>
                </a:lnTo>
                <a:lnTo>
                  <a:pt x="0" y="0"/>
                </a:lnTo>
                <a:close/>
              </a:path>
            </a:pathLst>
          </a:custGeom>
          <a:blipFill>
            <a:blip r:embed="rId3"/>
            <a:stretch>
              <a:fillRect/>
            </a:stretch>
          </a:blipFill>
        </p:spPr>
        <p:txBody>
          <a:bodyPr/>
          <a:lstStyle/>
          <a:p>
            <a:endParaRPr lang="en-US"/>
          </a:p>
        </p:txBody>
      </p:sp>
      <p:grpSp>
        <p:nvGrpSpPr>
          <p:cNvPr id="3" name="Group 3"/>
          <p:cNvGrpSpPr/>
          <p:nvPr/>
        </p:nvGrpSpPr>
        <p:grpSpPr>
          <a:xfrm>
            <a:off x="-336335" y="-127913"/>
            <a:ext cx="18941620" cy="10542827"/>
            <a:chOff x="0" y="0"/>
            <a:chExt cx="25255493" cy="14057103"/>
          </a:xfrm>
        </p:grpSpPr>
        <p:sp>
          <p:nvSpPr>
            <p:cNvPr id="4" name="Freeform 4"/>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6" name="Group 6"/>
          <p:cNvGrpSpPr/>
          <p:nvPr/>
        </p:nvGrpSpPr>
        <p:grpSpPr>
          <a:xfrm>
            <a:off x="-1052258" y="9091595"/>
            <a:ext cx="20392515" cy="3086100"/>
            <a:chOff x="0" y="0"/>
            <a:chExt cx="5370868" cy="812800"/>
          </a:xfrm>
        </p:grpSpPr>
        <p:sp>
          <p:nvSpPr>
            <p:cNvPr id="7" name="Freeform 7"/>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8" name="TextBox 8"/>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9" name="Freeform 9"/>
          <p:cNvSpPr/>
          <p:nvPr/>
        </p:nvSpPr>
        <p:spPr>
          <a:xfrm rot="2247298">
            <a:off x="14778728" y="7284647"/>
            <a:ext cx="4538402" cy="3303058"/>
          </a:xfrm>
          <a:custGeom>
            <a:avLst/>
            <a:gdLst/>
            <a:ahLst/>
            <a:cxnLst/>
            <a:rect l="l" t="t" r="r" b="b"/>
            <a:pathLst>
              <a:path w="4538402" h="3303058">
                <a:moveTo>
                  <a:pt x="0" y="0"/>
                </a:moveTo>
                <a:lnTo>
                  <a:pt x="4538402" y="0"/>
                </a:lnTo>
                <a:lnTo>
                  <a:pt x="4538402" y="3303058"/>
                </a:lnTo>
                <a:lnTo>
                  <a:pt x="0" y="33030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TextBox 10"/>
          <p:cNvSpPr txBox="1"/>
          <p:nvPr/>
        </p:nvSpPr>
        <p:spPr>
          <a:xfrm>
            <a:off x="433758" y="478731"/>
            <a:ext cx="9086023"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The Problem</a:t>
            </a:r>
          </a:p>
        </p:txBody>
      </p:sp>
      <p:sp>
        <p:nvSpPr>
          <p:cNvPr id="11" name="TextBox 11"/>
          <p:cNvSpPr txBox="1"/>
          <p:nvPr/>
        </p:nvSpPr>
        <p:spPr>
          <a:xfrm>
            <a:off x="433758" y="3223512"/>
            <a:ext cx="6166603" cy="3811402"/>
          </a:xfrm>
          <a:prstGeom prst="rect">
            <a:avLst/>
          </a:prstGeom>
        </p:spPr>
        <p:txBody>
          <a:bodyPr lIns="0" tIns="0" rIns="0" bIns="0" rtlCol="0" anchor="t">
            <a:spAutoFit/>
          </a:bodyPr>
          <a:lstStyle/>
          <a:p>
            <a:pPr algn="ctr">
              <a:lnSpc>
                <a:spcPts val="3066"/>
              </a:lnSpc>
            </a:pPr>
            <a:r>
              <a:rPr lang="en-US" sz="2377">
                <a:solidFill>
                  <a:srgbClr val="000000"/>
                </a:solidFill>
                <a:latin typeface="Playfair Display"/>
                <a:ea typeface="Playfair Display"/>
                <a:cs typeface="Playfair Display"/>
                <a:sym typeface="Playfair Display"/>
              </a:rPr>
              <a:t>We often waste edible food because we lose track of what groceries we already have and when they expire. Ingredients get forgotten at the back of the fridge or duplicated during the next shop, </a:t>
            </a:r>
          </a:p>
          <a:p>
            <a:pPr algn="ctr">
              <a:lnSpc>
                <a:spcPts val="3066"/>
              </a:lnSpc>
            </a:pPr>
            <a:endParaRPr lang="en-US" sz="2377">
              <a:solidFill>
                <a:srgbClr val="000000"/>
              </a:solidFill>
              <a:latin typeface="Playfair Display"/>
              <a:ea typeface="Playfair Display"/>
              <a:cs typeface="Playfair Display"/>
              <a:sym typeface="Playfair Display"/>
            </a:endParaRPr>
          </a:p>
          <a:p>
            <a:pPr algn="ctr">
              <a:lnSpc>
                <a:spcPts val="3066"/>
              </a:lnSpc>
            </a:pPr>
            <a:r>
              <a:rPr lang="en-US" sz="2377">
                <a:solidFill>
                  <a:srgbClr val="000000"/>
                </a:solidFill>
                <a:latin typeface="Playfair Display"/>
                <a:ea typeface="Playfair Display"/>
                <a:cs typeface="Playfair Display"/>
                <a:sym typeface="Playfair Display"/>
              </a:rPr>
              <a:t>When it’s time to cook, people don’t have the time, ideas, or motivation to plan meals around what needs using first. </a:t>
            </a:r>
          </a:p>
          <a:p>
            <a:pPr algn="l">
              <a:lnSpc>
                <a:spcPts val="3066"/>
              </a:lnSpc>
            </a:pPr>
            <a:endParaRPr lang="en-US" sz="2377">
              <a:solidFill>
                <a:srgbClr val="000000"/>
              </a:solidFill>
              <a:latin typeface="Playfair Display"/>
              <a:ea typeface="Playfair Display"/>
              <a:cs typeface="Playfair Display"/>
              <a:sym typeface="Playfair Display"/>
            </a:endParaRPr>
          </a:p>
        </p:txBody>
      </p:sp>
      <p:sp>
        <p:nvSpPr>
          <p:cNvPr id="12" name="TextBox 12"/>
          <p:cNvSpPr txBox="1"/>
          <p:nvPr/>
        </p:nvSpPr>
        <p:spPr>
          <a:xfrm>
            <a:off x="750562" y="1562373"/>
            <a:ext cx="12608968"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What needs to change?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604436"/>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13318711" y="46936"/>
            <a:ext cx="8448051" cy="4469868"/>
          </a:xfrm>
          <a:custGeom>
            <a:avLst/>
            <a:gdLst/>
            <a:ahLst/>
            <a:cxnLst/>
            <a:rect l="l" t="t" r="r" b="b"/>
            <a:pathLst>
              <a:path w="8448051" h="4469868">
                <a:moveTo>
                  <a:pt x="0" y="0"/>
                </a:moveTo>
                <a:lnTo>
                  <a:pt x="8448051" y="0"/>
                </a:lnTo>
                <a:lnTo>
                  <a:pt x="8448051" y="4469868"/>
                </a:lnTo>
                <a:lnTo>
                  <a:pt x="0" y="44698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479339">
            <a:off x="10796840" y="7381083"/>
            <a:ext cx="7315200" cy="3042928"/>
          </a:xfrm>
          <a:custGeom>
            <a:avLst/>
            <a:gdLst/>
            <a:ahLst/>
            <a:cxnLst/>
            <a:rect l="l" t="t" r="r" b="b"/>
            <a:pathLst>
              <a:path w="7315200" h="3042928">
                <a:moveTo>
                  <a:pt x="0" y="0"/>
                </a:moveTo>
                <a:lnTo>
                  <a:pt x="7315200" y="0"/>
                </a:lnTo>
                <a:lnTo>
                  <a:pt x="7315200" y="3042928"/>
                </a:lnTo>
                <a:lnTo>
                  <a:pt x="0" y="30429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6692824" y="3294986"/>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748156" y="4862956"/>
            <a:ext cx="561087" cy="561087"/>
          </a:xfrm>
          <a:custGeom>
            <a:avLst/>
            <a:gdLst/>
            <a:ahLst/>
            <a:cxnLst/>
            <a:rect l="l" t="t" r="r" b="b"/>
            <a:pathLst>
              <a:path w="561087" h="561087">
                <a:moveTo>
                  <a:pt x="0" y="0"/>
                </a:moveTo>
                <a:lnTo>
                  <a:pt x="561088" y="0"/>
                </a:lnTo>
                <a:lnTo>
                  <a:pt x="561088" y="561088"/>
                </a:lnTo>
                <a:lnTo>
                  <a:pt x="0" y="5610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12" name="Picture 12"/>
          <p:cNvPicPr>
            <a:picLocks noChangeAspect="1"/>
          </p:cNvPicPr>
          <p:nvPr/>
        </p:nvPicPr>
        <p:blipFill>
          <a:blip r:embed="rId6"/>
          <a:stretch>
            <a:fillRect/>
          </a:stretch>
        </p:blipFill>
        <p:spPr>
          <a:xfrm>
            <a:off x="9145376" y="1588318"/>
            <a:ext cx="6902754" cy="6938550"/>
          </a:xfrm>
          <a:prstGeom prst="rect">
            <a:avLst/>
          </a:prstGeom>
        </p:spPr>
      </p:pic>
      <p:sp>
        <p:nvSpPr>
          <p:cNvPr id="13" name="TextBox 13"/>
          <p:cNvSpPr txBox="1"/>
          <p:nvPr/>
        </p:nvSpPr>
        <p:spPr>
          <a:xfrm>
            <a:off x="1200074" y="2178461"/>
            <a:ext cx="7508439" cy="5840213"/>
          </a:xfrm>
          <a:prstGeom prst="rect">
            <a:avLst/>
          </a:prstGeom>
        </p:spPr>
        <p:txBody>
          <a:bodyPr lIns="0" tIns="0" rIns="0" bIns="0" rtlCol="0" anchor="t">
            <a:spAutoFit/>
          </a:bodyPr>
          <a:lstStyle/>
          <a:p>
            <a:pPr algn="l">
              <a:lnSpc>
                <a:spcPts val="2595"/>
              </a:lnSpc>
            </a:pPr>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1.05 billion tonnes of food were wasted in 2022 across households, food service, and retail (this includes inedible parts).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That’s about 132 kg per person per year, and roughly 19% of food available to consumers.</a:t>
            </a:r>
          </a:p>
          <a:p>
            <a:pPr algn="l">
              <a:lnSpc>
                <a:spcPts val="2595"/>
              </a:lnSpc>
            </a:pPr>
            <a:r>
              <a:rPr lang="en-US" sz="2359">
                <a:solidFill>
                  <a:srgbClr val="000000"/>
                </a:solidFill>
                <a:latin typeface="Playfair Display"/>
                <a:ea typeface="Playfair Display"/>
                <a:cs typeface="Playfair Display"/>
                <a:sym typeface="Playfair Display"/>
              </a:rPr>
              <a:t>  </a:t>
            </a: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Where it happens (2022): 60% households, 28% food service, 12% retail.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Households alone: 631 million tonnes wasted in 2022 (about 79 kg per person per year).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Food loss and waste contributes about 8–10% of global greenhouse gas emissions.  </a:t>
            </a:r>
          </a:p>
          <a:p>
            <a:pPr algn="l">
              <a:lnSpc>
                <a:spcPts val="2595"/>
              </a:lnSpc>
            </a:pPr>
            <a:endParaRPr lang="en-US" sz="2359">
              <a:solidFill>
                <a:srgbClr val="000000"/>
              </a:solidFill>
              <a:latin typeface="Playfair Display"/>
              <a:ea typeface="Playfair Display"/>
              <a:cs typeface="Playfair Display"/>
              <a:sym typeface="Playfair Display"/>
            </a:endParaRPr>
          </a:p>
          <a:p>
            <a:pPr algn="l">
              <a:lnSpc>
                <a:spcPts val="2595"/>
              </a:lnSpc>
            </a:pPr>
            <a:endParaRPr lang="en-US" sz="2359">
              <a:solidFill>
                <a:srgbClr val="000000"/>
              </a:solidFill>
              <a:latin typeface="Playfair Display"/>
              <a:ea typeface="Playfair Display"/>
              <a:cs typeface="Playfair Display"/>
              <a:sym typeface="Playfair Display"/>
            </a:endParaRPr>
          </a:p>
        </p:txBody>
      </p:sp>
      <p:sp>
        <p:nvSpPr>
          <p:cNvPr id="14" name="TextBox 14"/>
          <p:cNvSpPr txBox="1"/>
          <p:nvPr/>
        </p:nvSpPr>
        <p:spPr>
          <a:xfrm>
            <a:off x="1200074" y="658388"/>
            <a:ext cx="7177333" cy="1623482"/>
          </a:xfrm>
          <a:prstGeom prst="rect">
            <a:avLst/>
          </a:prstGeom>
        </p:spPr>
        <p:txBody>
          <a:bodyPr lIns="0" tIns="0" rIns="0" bIns="0" rtlCol="0" anchor="t">
            <a:spAutoFit/>
          </a:bodyPr>
          <a:lstStyle/>
          <a:p>
            <a:pPr algn="l">
              <a:lnSpc>
                <a:spcPts val="6174"/>
              </a:lnSpc>
            </a:pPr>
            <a:r>
              <a:rPr lang="en-US" sz="6861" b="1">
                <a:solidFill>
                  <a:srgbClr val="2E7040"/>
                </a:solidFill>
                <a:latin typeface="Playfair Display Bold"/>
                <a:ea typeface="Playfair Display Bold"/>
                <a:cs typeface="Playfair Display Bold"/>
                <a:sym typeface="Playfair Display Bold"/>
              </a:rPr>
              <a:t>GLOBAL WASTE STATISTICS</a:t>
            </a:r>
          </a:p>
        </p:txBody>
      </p:sp>
      <p:sp>
        <p:nvSpPr>
          <p:cNvPr id="15" name="TextBox 15"/>
          <p:cNvSpPr txBox="1"/>
          <p:nvPr/>
        </p:nvSpPr>
        <p:spPr>
          <a:xfrm>
            <a:off x="1473266" y="7576563"/>
            <a:ext cx="7508439" cy="1964173"/>
          </a:xfrm>
          <a:prstGeom prst="rect">
            <a:avLst/>
          </a:prstGeom>
        </p:spPr>
        <p:txBody>
          <a:bodyPr lIns="0" tIns="0" rIns="0" bIns="0" rtlCol="0" anchor="t">
            <a:spAutoFit/>
          </a:bodyPr>
          <a:lstStyle/>
          <a:p>
            <a:pPr algn="l">
              <a:lnSpc>
                <a:spcPts val="2045"/>
              </a:lnSpc>
            </a:pPr>
            <a:r>
              <a:rPr lang="en-US" sz="1859">
                <a:solidFill>
                  <a:srgbClr val="000000"/>
                </a:solidFill>
                <a:latin typeface="Playfair Display"/>
                <a:ea typeface="Playfair Display"/>
                <a:cs typeface="Playfair Display"/>
                <a:sym typeface="Playfair Display"/>
              </a:rPr>
              <a:t>United Nations Environment Programme (UNEP) (2024) Food Waste Index Report 2024: Think Eat Save: Tracking Progress to Halve Global Food Waste. Nairobi: UNEP. Available at: https://wedocs.unep.org/handle/20.500.11822/45230 (Accessed: 16 December 2025). </a:t>
            </a:r>
          </a:p>
          <a:p>
            <a:pPr algn="l">
              <a:lnSpc>
                <a:spcPts val="2045"/>
              </a:lnSpc>
            </a:pPr>
            <a:endParaRPr lang="en-US" sz="1859">
              <a:solidFill>
                <a:srgbClr val="000000"/>
              </a:solidFill>
              <a:latin typeface="Playfair Display"/>
              <a:ea typeface="Playfair Display"/>
              <a:cs typeface="Playfair Display"/>
              <a:sym typeface="Playfair Display"/>
            </a:endParaRPr>
          </a:p>
          <a:p>
            <a:pPr algn="l">
              <a:lnSpc>
                <a:spcPts val="3255"/>
              </a:lnSpc>
            </a:pPr>
            <a:endParaRPr lang="en-US" sz="1859">
              <a:solidFill>
                <a:srgbClr val="000000"/>
              </a:solidFill>
              <a:latin typeface="Playfair Display"/>
              <a:ea typeface="Playfair Display"/>
              <a:cs typeface="Playfair Display"/>
              <a:sym typeface="Playfair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604436"/>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14063974" y="-894339"/>
            <a:ext cx="8448051" cy="4469868"/>
          </a:xfrm>
          <a:custGeom>
            <a:avLst/>
            <a:gdLst/>
            <a:ahLst/>
            <a:cxnLst/>
            <a:rect l="l" t="t" r="r" b="b"/>
            <a:pathLst>
              <a:path w="8448051" h="4469868">
                <a:moveTo>
                  <a:pt x="0" y="0"/>
                </a:moveTo>
                <a:lnTo>
                  <a:pt x="8448052" y="0"/>
                </a:lnTo>
                <a:lnTo>
                  <a:pt x="8448052" y="4469869"/>
                </a:lnTo>
                <a:lnTo>
                  <a:pt x="0" y="44698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479339">
            <a:off x="10796840" y="7381083"/>
            <a:ext cx="7315200" cy="3042928"/>
          </a:xfrm>
          <a:custGeom>
            <a:avLst/>
            <a:gdLst/>
            <a:ahLst/>
            <a:cxnLst/>
            <a:rect l="l" t="t" r="r" b="b"/>
            <a:pathLst>
              <a:path w="7315200" h="3042928">
                <a:moveTo>
                  <a:pt x="0" y="0"/>
                </a:moveTo>
                <a:lnTo>
                  <a:pt x="7315200" y="0"/>
                </a:lnTo>
                <a:lnTo>
                  <a:pt x="7315200" y="3042928"/>
                </a:lnTo>
                <a:lnTo>
                  <a:pt x="0" y="30429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6692824" y="3294986"/>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748156" y="4862956"/>
            <a:ext cx="561087" cy="561087"/>
          </a:xfrm>
          <a:custGeom>
            <a:avLst/>
            <a:gdLst/>
            <a:ahLst/>
            <a:cxnLst/>
            <a:rect l="l" t="t" r="r" b="b"/>
            <a:pathLst>
              <a:path w="561087" h="561087">
                <a:moveTo>
                  <a:pt x="0" y="0"/>
                </a:moveTo>
                <a:lnTo>
                  <a:pt x="561088" y="0"/>
                </a:lnTo>
                <a:lnTo>
                  <a:pt x="561088" y="561088"/>
                </a:lnTo>
                <a:lnTo>
                  <a:pt x="0" y="5610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8243553" y="93610"/>
            <a:ext cx="3290327" cy="3597774"/>
          </a:xfrm>
          <a:custGeom>
            <a:avLst/>
            <a:gdLst/>
            <a:ahLst/>
            <a:cxnLst/>
            <a:rect l="l" t="t" r="r" b="b"/>
            <a:pathLst>
              <a:path w="3290327" h="3597774">
                <a:moveTo>
                  <a:pt x="0" y="0"/>
                </a:moveTo>
                <a:lnTo>
                  <a:pt x="3290328" y="0"/>
                </a:lnTo>
                <a:lnTo>
                  <a:pt x="3290328" y="3597773"/>
                </a:lnTo>
                <a:lnTo>
                  <a:pt x="0" y="359777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1200074" y="2178461"/>
            <a:ext cx="7508439" cy="5840213"/>
          </a:xfrm>
          <a:prstGeom prst="rect">
            <a:avLst/>
          </a:prstGeom>
        </p:spPr>
        <p:txBody>
          <a:bodyPr lIns="0" tIns="0" rIns="0" bIns="0" rtlCol="0" anchor="t">
            <a:spAutoFit/>
          </a:bodyPr>
          <a:lstStyle/>
          <a:p>
            <a:pPr algn="l">
              <a:lnSpc>
                <a:spcPts val="2595"/>
              </a:lnSpc>
            </a:pPr>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1.05 billion tonnes of food were wasted in 2022 across households, food service, and retail (this includes inedible parts).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That’s about 132 kg per person per year, and roughly 19% of food available to consumers.</a:t>
            </a:r>
          </a:p>
          <a:p>
            <a:pPr algn="l">
              <a:lnSpc>
                <a:spcPts val="2595"/>
              </a:lnSpc>
            </a:pPr>
            <a:r>
              <a:rPr lang="en-US" sz="2359">
                <a:solidFill>
                  <a:srgbClr val="000000"/>
                </a:solidFill>
                <a:latin typeface="Playfair Display"/>
                <a:ea typeface="Playfair Display"/>
                <a:cs typeface="Playfair Display"/>
                <a:sym typeface="Playfair Display"/>
              </a:rPr>
              <a:t>  </a:t>
            </a: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Where it happens (2022): 60% households, 28% food service, 12% retail.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Households alone: 631 million tonnes wasted in 2022 (about 79 kg per person per year). </a:t>
            </a:r>
          </a:p>
          <a:p>
            <a:pPr algn="l">
              <a:lnSpc>
                <a:spcPts val="2595"/>
              </a:lnSpc>
            </a:pPr>
            <a:endParaRPr lang="en-US" sz="2359">
              <a:solidFill>
                <a:srgbClr val="000000"/>
              </a:solidFill>
              <a:latin typeface="Playfair Display"/>
              <a:ea typeface="Playfair Display"/>
              <a:cs typeface="Playfair Display"/>
              <a:sym typeface="Playfair Display"/>
            </a:endParaRPr>
          </a:p>
          <a:p>
            <a:pPr marL="509371" lvl="1" indent="-254685" algn="l">
              <a:lnSpc>
                <a:spcPts val="2595"/>
              </a:lnSpc>
              <a:buFont typeface="Arial"/>
              <a:buChar char="•"/>
            </a:pPr>
            <a:r>
              <a:rPr lang="en-US" sz="2359">
                <a:solidFill>
                  <a:srgbClr val="000000"/>
                </a:solidFill>
                <a:latin typeface="Playfair Display"/>
                <a:ea typeface="Playfair Display"/>
                <a:cs typeface="Playfair Display"/>
                <a:sym typeface="Playfair Display"/>
              </a:rPr>
              <a:t>Food loss and waste contributes about 8–10% of global greenhouse gas emissions.  </a:t>
            </a:r>
          </a:p>
          <a:p>
            <a:pPr algn="l">
              <a:lnSpc>
                <a:spcPts val="2595"/>
              </a:lnSpc>
            </a:pPr>
            <a:endParaRPr lang="en-US" sz="2359">
              <a:solidFill>
                <a:srgbClr val="000000"/>
              </a:solidFill>
              <a:latin typeface="Playfair Display"/>
              <a:ea typeface="Playfair Display"/>
              <a:cs typeface="Playfair Display"/>
              <a:sym typeface="Playfair Display"/>
            </a:endParaRPr>
          </a:p>
          <a:p>
            <a:pPr algn="l">
              <a:lnSpc>
                <a:spcPts val="2595"/>
              </a:lnSpc>
            </a:pPr>
            <a:endParaRPr lang="en-US" sz="2359">
              <a:solidFill>
                <a:srgbClr val="000000"/>
              </a:solidFill>
              <a:latin typeface="Playfair Display"/>
              <a:ea typeface="Playfair Display"/>
              <a:cs typeface="Playfair Display"/>
              <a:sym typeface="Playfair Display"/>
            </a:endParaRPr>
          </a:p>
        </p:txBody>
      </p:sp>
      <p:sp>
        <p:nvSpPr>
          <p:cNvPr id="14" name="TextBox 14"/>
          <p:cNvSpPr txBox="1"/>
          <p:nvPr/>
        </p:nvSpPr>
        <p:spPr>
          <a:xfrm>
            <a:off x="1200074" y="658388"/>
            <a:ext cx="7177333" cy="1623482"/>
          </a:xfrm>
          <a:prstGeom prst="rect">
            <a:avLst/>
          </a:prstGeom>
        </p:spPr>
        <p:txBody>
          <a:bodyPr lIns="0" tIns="0" rIns="0" bIns="0" rtlCol="0" anchor="t">
            <a:spAutoFit/>
          </a:bodyPr>
          <a:lstStyle/>
          <a:p>
            <a:pPr algn="l">
              <a:lnSpc>
                <a:spcPts val="6174"/>
              </a:lnSpc>
            </a:pPr>
            <a:r>
              <a:rPr lang="en-US" sz="6861" b="1">
                <a:solidFill>
                  <a:srgbClr val="2E7040"/>
                </a:solidFill>
                <a:latin typeface="Playfair Display Bold"/>
                <a:ea typeface="Playfair Display Bold"/>
                <a:cs typeface="Playfair Display Bold"/>
                <a:sym typeface="Playfair Display Bold"/>
              </a:rPr>
              <a:t>GLOBAL WASTE STATISTICS</a:t>
            </a:r>
          </a:p>
        </p:txBody>
      </p:sp>
      <p:sp>
        <p:nvSpPr>
          <p:cNvPr id="15" name="TextBox 15"/>
          <p:cNvSpPr txBox="1"/>
          <p:nvPr/>
        </p:nvSpPr>
        <p:spPr>
          <a:xfrm>
            <a:off x="1450620" y="7567612"/>
            <a:ext cx="7508439" cy="1964173"/>
          </a:xfrm>
          <a:prstGeom prst="rect">
            <a:avLst/>
          </a:prstGeom>
        </p:spPr>
        <p:txBody>
          <a:bodyPr lIns="0" tIns="0" rIns="0" bIns="0" rtlCol="0" anchor="t">
            <a:spAutoFit/>
          </a:bodyPr>
          <a:lstStyle/>
          <a:p>
            <a:pPr algn="l">
              <a:lnSpc>
                <a:spcPts val="2045"/>
              </a:lnSpc>
            </a:pPr>
            <a:r>
              <a:rPr lang="en-US" sz="1859">
                <a:solidFill>
                  <a:srgbClr val="000000"/>
                </a:solidFill>
                <a:latin typeface="Playfair Display"/>
                <a:ea typeface="Playfair Display"/>
                <a:cs typeface="Playfair Display"/>
                <a:sym typeface="Playfair Display"/>
              </a:rPr>
              <a:t>United Nations Environment Programme (UNEP) (2024) Food Waste Index Report 2024: Think Eat Save: Tracking Progress to Halve Global Food Waste. Nairobi: UNEP. Available at: https://wedocs.unep.org/handle/20.500.11822/45230 (Accessed: 16 December 2025). </a:t>
            </a:r>
          </a:p>
          <a:p>
            <a:pPr algn="l">
              <a:lnSpc>
                <a:spcPts val="2045"/>
              </a:lnSpc>
            </a:pPr>
            <a:endParaRPr lang="en-US" sz="1859">
              <a:solidFill>
                <a:srgbClr val="000000"/>
              </a:solidFill>
              <a:latin typeface="Playfair Display"/>
              <a:ea typeface="Playfair Display"/>
              <a:cs typeface="Playfair Display"/>
              <a:sym typeface="Playfair Display"/>
            </a:endParaRPr>
          </a:p>
          <a:p>
            <a:pPr algn="l">
              <a:lnSpc>
                <a:spcPts val="3255"/>
              </a:lnSpc>
            </a:pPr>
            <a:endParaRPr lang="en-US" sz="1859">
              <a:solidFill>
                <a:srgbClr val="000000"/>
              </a:solidFill>
              <a:latin typeface="Playfair Display"/>
              <a:ea typeface="Playfair Display"/>
              <a:cs typeface="Playfair Display"/>
              <a:sym typeface="Playfair Display"/>
            </a:endParaRPr>
          </a:p>
        </p:txBody>
      </p:sp>
      <p:pic>
        <p:nvPicPr>
          <p:cNvPr id="16" name="Picture 16"/>
          <p:cNvPicPr>
            <a:picLocks noChangeAspect="1"/>
          </p:cNvPicPr>
          <p:nvPr/>
        </p:nvPicPr>
        <p:blipFill>
          <a:blip r:embed="rId7"/>
          <a:stretch>
            <a:fillRect/>
          </a:stretch>
        </p:blipFill>
        <p:spPr>
          <a:xfrm>
            <a:off x="8172747" y="1369875"/>
            <a:ext cx="9435742" cy="7115536"/>
          </a:xfrm>
          <a:prstGeom prst="rect">
            <a:avLst/>
          </a:prstGeom>
        </p:spPr>
      </p:pic>
      <p:sp>
        <p:nvSpPr>
          <p:cNvPr id="17" name="Freeform 17"/>
          <p:cNvSpPr/>
          <p:nvPr/>
        </p:nvSpPr>
        <p:spPr>
          <a:xfrm>
            <a:off x="9149029" y="1324063"/>
            <a:ext cx="7638873" cy="7638873"/>
          </a:xfrm>
          <a:custGeom>
            <a:avLst/>
            <a:gdLst/>
            <a:ahLst/>
            <a:cxnLst/>
            <a:rect l="l" t="t" r="r" b="b"/>
            <a:pathLst>
              <a:path w="7638873" h="7638873">
                <a:moveTo>
                  <a:pt x="0" y="0"/>
                </a:moveTo>
                <a:lnTo>
                  <a:pt x="7638873" y="0"/>
                </a:lnTo>
                <a:lnTo>
                  <a:pt x="7638873" y="7638874"/>
                </a:lnTo>
                <a:lnTo>
                  <a:pt x="0" y="7638874"/>
                </a:lnTo>
                <a:lnTo>
                  <a:pt x="0" y="0"/>
                </a:lnTo>
                <a:close/>
              </a:path>
            </a:pathLst>
          </a:custGeom>
          <a:blipFill>
            <a:blip r:embed="rId8">
              <a:alphaModFix amt="25000"/>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326810" y="-127913"/>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9519781" y="1489800"/>
            <a:ext cx="6935189" cy="6918871"/>
          </a:xfrm>
          <a:custGeom>
            <a:avLst/>
            <a:gdLst/>
            <a:ahLst/>
            <a:cxnLst/>
            <a:rect l="l" t="t" r="r" b="b"/>
            <a:pathLst>
              <a:path w="6935189" h="6918871">
                <a:moveTo>
                  <a:pt x="0" y="0"/>
                </a:moveTo>
                <a:lnTo>
                  <a:pt x="6935189" y="0"/>
                </a:lnTo>
                <a:lnTo>
                  <a:pt x="6935189" y="6918871"/>
                </a:lnTo>
                <a:lnTo>
                  <a:pt x="0" y="6918871"/>
                </a:lnTo>
                <a:lnTo>
                  <a:pt x="0" y="0"/>
                </a:lnTo>
                <a:close/>
              </a:path>
            </a:pathLst>
          </a:custGeom>
          <a:blipFill>
            <a:blip r:embed="rId4"/>
            <a:stretch>
              <a:fillRect/>
            </a:stretch>
          </a:blipFill>
        </p:spPr>
        <p:txBody>
          <a:bodyPr/>
          <a:lstStyle/>
          <a:p>
            <a:endParaRPr lang="en-US"/>
          </a:p>
        </p:txBody>
      </p:sp>
      <p:sp>
        <p:nvSpPr>
          <p:cNvPr id="9" name="Freeform 9"/>
          <p:cNvSpPr/>
          <p:nvPr/>
        </p:nvSpPr>
        <p:spPr>
          <a:xfrm>
            <a:off x="12296813" y="631131"/>
            <a:ext cx="1381125" cy="1381125"/>
          </a:xfrm>
          <a:custGeom>
            <a:avLst/>
            <a:gdLst/>
            <a:ahLst/>
            <a:cxnLst/>
            <a:rect l="l" t="t" r="r" b="b"/>
            <a:pathLst>
              <a:path w="1381125" h="1381125">
                <a:moveTo>
                  <a:pt x="0" y="0"/>
                </a:moveTo>
                <a:lnTo>
                  <a:pt x="1381125" y="0"/>
                </a:lnTo>
                <a:lnTo>
                  <a:pt x="1381125" y="1381125"/>
                </a:lnTo>
                <a:lnTo>
                  <a:pt x="0" y="1381125"/>
                </a:lnTo>
                <a:lnTo>
                  <a:pt x="0" y="0"/>
                </a:lnTo>
                <a:close/>
              </a:path>
            </a:pathLst>
          </a:custGeom>
          <a:blipFill>
            <a:blip r:embed="rId5"/>
            <a:stretch>
              <a:fillRect/>
            </a:stretch>
          </a:blipFill>
        </p:spPr>
        <p:txBody>
          <a:bodyPr/>
          <a:lstStyle/>
          <a:p>
            <a:endParaRPr lang="en-US"/>
          </a:p>
        </p:txBody>
      </p:sp>
      <p:sp>
        <p:nvSpPr>
          <p:cNvPr id="10" name="Freeform 10"/>
          <p:cNvSpPr/>
          <p:nvPr/>
        </p:nvSpPr>
        <p:spPr>
          <a:xfrm>
            <a:off x="9045944" y="5460824"/>
            <a:ext cx="1164400" cy="1164400"/>
          </a:xfrm>
          <a:custGeom>
            <a:avLst/>
            <a:gdLst/>
            <a:ahLst/>
            <a:cxnLst/>
            <a:rect l="l" t="t" r="r" b="b"/>
            <a:pathLst>
              <a:path w="1164400" h="1164400">
                <a:moveTo>
                  <a:pt x="0" y="0"/>
                </a:moveTo>
                <a:lnTo>
                  <a:pt x="1164399" y="0"/>
                </a:lnTo>
                <a:lnTo>
                  <a:pt x="1164399" y="1164400"/>
                </a:lnTo>
                <a:lnTo>
                  <a:pt x="0" y="1164400"/>
                </a:lnTo>
                <a:lnTo>
                  <a:pt x="0" y="0"/>
                </a:lnTo>
                <a:close/>
              </a:path>
            </a:pathLst>
          </a:custGeom>
          <a:blipFill>
            <a:blip r:embed="rId6"/>
            <a:stretch>
              <a:fillRect/>
            </a:stretch>
          </a:blipFill>
        </p:spPr>
        <p:txBody>
          <a:bodyPr/>
          <a:lstStyle/>
          <a:p>
            <a:endParaRPr lang="en-US"/>
          </a:p>
        </p:txBody>
      </p:sp>
      <p:sp>
        <p:nvSpPr>
          <p:cNvPr id="11" name="Freeform 11"/>
          <p:cNvSpPr/>
          <p:nvPr/>
        </p:nvSpPr>
        <p:spPr>
          <a:xfrm>
            <a:off x="15896778" y="5537024"/>
            <a:ext cx="1116383" cy="1164400"/>
          </a:xfrm>
          <a:custGeom>
            <a:avLst/>
            <a:gdLst/>
            <a:ahLst/>
            <a:cxnLst/>
            <a:rect l="l" t="t" r="r" b="b"/>
            <a:pathLst>
              <a:path w="1116383" h="1164400">
                <a:moveTo>
                  <a:pt x="0" y="0"/>
                </a:moveTo>
                <a:lnTo>
                  <a:pt x="1116383" y="0"/>
                </a:lnTo>
                <a:lnTo>
                  <a:pt x="1116383" y="1164400"/>
                </a:lnTo>
                <a:lnTo>
                  <a:pt x="0" y="1164400"/>
                </a:lnTo>
                <a:lnTo>
                  <a:pt x="0" y="0"/>
                </a:lnTo>
                <a:close/>
              </a:path>
            </a:pathLst>
          </a:custGeom>
          <a:blipFill>
            <a:blip r:embed="rId7"/>
            <a:stretch>
              <a:fillRect/>
            </a:stretch>
          </a:blipFill>
        </p:spPr>
        <p:txBody>
          <a:bodyPr/>
          <a:lstStyle/>
          <a:p>
            <a:endParaRPr lang="en-US"/>
          </a:p>
        </p:txBody>
      </p:sp>
      <p:grpSp>
        <p:nvGrpSpPr>
          <p:cNvPr id="12" name="Group 12"/>
          <p:cNvGrpSpPr/>
          <p:nvPr/>
        </p:nvGrpSpPr>
        <p:grpSpPr>
          <a:xfrm>
            <a:off x="433758" y="3625424"/>
            <a:ext cx="6166603" cy="4835200"/>
            <a:chOff x="0" y="0"/>
            <a:chExt cx="8222137" cy="6446933"/>
          </a:xfrm>
        </p:grpSpPr>
        <p:grpSp>
          <p:nvGrpSpPr>
            <p:cNvPr id="13" name="Group 13"/>
            <p:cNvGrpSpPr/>
            <p:nvPr/>
          </p:nvGrpSpPr>
          <p:grpSpPr>
            <a:xfrm>
              <a:off x="119693" y="0"/>
              <a:ext cx="7982752" cy="6161725"/>
              <a:chOff x="0" y="0"/>
              <a:chExt cx="2168019" cy="1673450"/>
            </a:xfrm>
          </p:grpSpPr>
          <p:sp>
            <p:nvSpPr>
              <p:cNvPr id="14" name="Freeform 14"/>
              <p:cNvSpPr/>
              <p:nvPr/>
            </p:nvSpPr>
            <p:spPr>
              <a:xfrm>
                <a:off x="0" y="0"/>
                <a:ext cx="2168019" cy="1673450"/>
              </a:xfrm>
              <a:custGeom>
                <a:avLst/>
                <a:gdLst/>
                <a:ahLst/>
                <a:cxnLst/>
                <a:rect l="l" t="t" r="r" b="b"/>
                <a:pathLst>
                  <a:path w="2168019" h="1673450">
                    <a:moveTo>
                      <a:pt x="45259" y="0"/>
                    </a:moveTo>
                    <a:lnTo>
                      <a:pt x="2122760" y="0"/>
                    </a:lnTo>
                    <a:cubicBezTo>
                      <a:pt x="2147756" y="0"/>
                      <a:pt x="2168019" y="20263"/>
                      <a:pt x="2168019" y="45259"/>
                    </a:cubicBezTo>
                    <a:lnTo>
                      <a:pt x="2168019" y="1628191"/>
                    </a:lnTo>
                    <a:cubicBezTo>
                      <a:pt x="2168019" y="1640194"/>
                      <a:pt x="2163251" y="1651706"/>
                      <a:pt x="2154763" y="1660194"/>
                    </a:cubicBezTo>
                    <a:cubicBezTo>
                      <a:pt x="2146275" y="1668681"/>
                      <a:pt x="2134763" y="1673450"/>
                      <a:pt x="2122760" y="1673450"/>
                    </a:cubicBezTo>
                    <a:lnTo>
                      <a:pt x="45259" y="1673450"/>
                    </a:lnTo>
                    <a:cubicBezTo>
                      <a:pt x="20263" y="1673450"/>
                      <a:pt x="0" y="1653187"/>
                      <a:pt x="0" y="1628191"/>
                    </a:cubicBezTo>
                    <a:lnTo>
                      <a:pt x="0" y="45259"/>
                    </a:lnTo>
                    <a:cubicBezTo>
                      <a:pt x="0" y="20263"/>
                      <a:pt x="20263" y="0"/>
                      <a:pt x="45259" y="0"/>
                    </a:cubicBezTo>
                    <a:close/>
                  </a:path>
                </a:pathLst>
              </a:custGeom>
              <a:solidFill>
                <a:srgbClr val="FEF5DB"/>
              </a:solidFill>
            </p:spPr>
            <p:txBody>
              <a:bodyPr/>
              <a:lstStyle/>
              <a:p>
                <a:endParaRPr lang="en-US"/>
              </a:p>
            </p:txBody>
          </p:sp>
          <p:sp>
            <p:nvSpPr>
              <p:cNvPr id="15" name="TextBox 15"/>
              <p:cNvSpPr txBox="1"/>
              <p:nvPr/>
            </p:nvSpPr>
            <p:spPr>
              <a:xfrm>
                <a:off x="0" y="-38100"/>
                <a:ext cx="2168019" cy="1711550"/>
              </a:xfrm>
              <a:prstGeom prst="rect">
                <a:avLst/>
              </a:prstGeom>
            </p:spPr>
            <p:txBody>
              <a:bodyPr lIns="46305" tIns="46305" rIns="46305" bIns="46305" rtlCol="0" anchor="ctr"/>
              <a:lstStyle/>
              <a:p>
                <a:pPr algn="ctr">
                  <a:lnSpc>
                    <a:spcPts val="2659"/>
                  </a:lnSpc>
                  <a:spcBef>
                    <a:spcPct val="0"/>
                  </a:spcBef>
                </a:pPr>
                <a:endParaRPr/>
              </a:p>
            </p:txBody>
          </p:sp>
        </p:grpSp>
        <p:sp>
          <p:nvSpPr>
            <p:cNvPr id="16" name="TextBox 16"/>
            <p:cNvSpPr txBox="1"/>
            <p:nvPr/>
          </p:nvSpPr>
          <p:spPr>
            <a:xfrm>
              <a:off x="0" y="509465"/>
              <a:ext cx="8222137" cy="5937468"/>
            </a:xfrm>
            <a:prstGeom prst="rect">
              <a:avLst/>
            </a:prstGeom>
          </p:spPr>
          <p:txBody>
            <a:bodyPr lIns="0" tIns="0" rIns="0" bIns="0" rtlCol="0" anchor="t">
              <a:spAutoFit/>
            </a:bodyPr>
            <a:lstStyle/>
            <a:p>
              <a:pPr algn="ctr">
                <a:lnSpc>
                  <a:spcPts val="2937"/>
                </a:lnSpc>
              </a:pPr>
              <a:r>
                <a:rPr lang="en-US" sz="2277">
                  <a:solidFill>
                    <a:srgbClr val="000000"/>
                  </a:solidFill>
                  <a:latin typeface="Playfair Display"/>
                  <a:ea typeface="Playfair Display"/>
                  <a:cs typeface="Playfair Display"/>
                  <a:sym typeface="Playfair Display"/>
                </a:rPr>
                <a:t>72% want to be more sustainable when shopping </a:t>
              </a:r>
            </a:p>
            <a:p>
              <a:pPr algn="ctr">
                <a:lnSpc>
                  <a:spcPts val="2937"/>
                </a:lnSpc>
              </a:pPr>
              <a:r>
                <a:rPr lang="en-US" sz="2277">
                  <a:solidFill>
                    <a:srgbClr val="000000"/>
                  </a:solidFill>
                  <a:latin typeface="Playfair Display"/>
                  <a:ea typeface="Playfair Display"/>
                  <a:cs typeface="Playfair Display"/>
                  <a:sym typeface="Playfair Display"/>
                </a:rPr>
                <a:t>58% plan to minimise household food waste within the next 12 months</a:t>
              </a:r>
            </a:p>
            <a:p>
              <a:pPr algn="ctr">
                <a:lnSpc>
                  <a:spcPts val="2937"/>
                </a:lnSpc>
              </a:pPr>
              <a:endParaRPr lang="en-US" sz="2277">
                <a:solidFill>
                  <a:srgbClr val="000000"/>
                </a:solidFill>
                <a:latin typeface="Playfair Display"/>
                <a:ea typeface="Playfair Display"/>
                <a:cs typeface="Playfair Display"/>
                <a:sym typeface="Playfair Display"/>
              </a:endParaRPr>
            </a:p>
            <a:p>
              <a:pPr algn="ctr">
                <a:lnSpc>
                  <a:spcPts val="2937"/>
                </a:lnSpc>
              </a:pPr>
              <a:endParaRPr lang="en-US" sz="2277">
                <a:solidFill>
                  <a:srgbClr val="000000"/>
                </a:solidFill>
                <a:latin typeface="Playfair Display"/>
                <a:ea typeface="Playfair Display"/>
                <a:cs typeface="Playfair Display"/>
                <a:sym typeface="Playfair Display"/>
              </a:endParaRPr>
            </a:p>
            <a:p>
              <a:pPr algn="ctr">
                <a:lnSpc>
                  <a:spcPts val="2937"/>
                </a:lnSpc>
              </a:pPr>
              <a:r>
                <a:rPr lang="en-US" sz="2277">
                  <a:solidFill>
                    <a:srgbClr val="000000"/>
                  </a:solidFill>
                  <a:latin typeface="Playfair Display"/>
                  <a:ea typeface="Playfair Display"/>
                  <a:cs typeface="Playfair Display"/>
                  <a:sym typeface="Playfair Display"/>
                </a:rPr>
                <a:t>People want to reduce waste, but don’t know how to,</a:t>
              </a:r>
            </a:p>
            <a:p>
              <a:pPr algn="ctr">
                <a:lnSpc>
                  <a:spcPts val="2937"/>
                </a:lnSpc>
              </a:pPr>
              <a:r>
                <a:rPr lang="en-US" sz="2277">
                  <a:solidFill>
                    <a:srgbClr val="000000"/>
                  </a:solidFill>
                  <a:latin typeface="Playfair Display"/>
                  <a:ea typeface="Playfair Display"/>
                  <a:cs typeface="Playfair Display"/>
                  <a:sym typeface="Playfair Display"/>
                </a:rPr>
                <a:t>this pressing problem creates a ripe market opportunity</a:t>
              </a:r>
            </a:p>
            <a:p>
              <a:pPr algn="ctr">
                <a:lnSpc>
                  <a:spcPts val="2937"/>
                </a:lnSpc>
              </a:pPr>
              <a:endParaRPr lang="en-US" sz="2277">
                <a:solidFill>
                  <a:srgbClr val="000000"/>
                </a:solidFill>
                <a:latin typeface="Playfair Display"/>
                <a:ea typeface="Playfair Display"/>
                <a:cs typeface="Playfair Display"/>
                <a:sym typeface="Playfair Display"/>
              </a:endParaRPr>
            </a:p>
            <a:p>
              <a:pPr algn="ctr">
                <a:lnSpc>
                  <a:spcPts val="2937"/>
                </a:lnSpc>
              </a:pPr>
              <a:endParaRPr lang="en-US" sz="2277">
                <a:solidFill>
                  <a:srgbClr val="000000"/>
                </a:solidFill>
                <a:latin typeface="Playfair Display"/>
                <a:ea typeface="Playfair Display"/>
                <a:cs typeface="Playfair Display"/>
                <a:sym typeface="Playfair Display"/>
              </a:endParaRPr>
            </a:p>
          </p:txBody>
        </p:sp>
        <p:sp>
          <p:nvSpPr>
            <p:cNvPr id="17" name="TextBox 17"/>
            <p:cNvSpPr txBox="1"/>
            <p:nvPr/>
          </p:nvSpPr>
          <p:spPr>
            <a:xfrm>
              <a:off x="1620094" y="2798883"/>
              <a:ext cx="4981949" cy="441698"/>
            </a:xfrm>
            <a:prstGeom prst="rect">
              <a:avLst/>
            </a:prstGeom>
          </p:spPr>
          <p:txBody>
            <a:bodyPr lIns="0" tIns="0" rIns="0" bIns="0" rtlCol="0" anchor="t">
              <a:spAutoFit/>
            </a:bodyPr>
            <a:lstStyle/>
            <a:p>
              <a:pPr algn="ctr">
                <a:lnSpc>
                  <a:spcPts val="2448"/>
                </a:lnSpc>
              </a:pPr>
              <a:r>
                <a:rPr lang="en-US" sz="2448" b="1">
                  <a:solidFill>
                    <a:srgbClr val="2E7040"/>
                  </a:solidFill>
                  <a:latin typeface="Playfair Display Bold"/>
                  <a:ea typeface="Playfair Display Bold"/>
                  <a:cs typeface="Playfair Display Bold"/>
                  <a:sym typeface="Playfair Display Bold"/>
                </a:rPr>
                <a:t>But only %38 take action</a:t>
              </a:r>
            </a:p>
          </p:txBody>
        </p:sp>
      </p:grpSp>
      <p:sp>
        <p:nvSpPr>
          <p:cNvPr id="18" name="Freeform 18"/>
          <p:cNvSpPr/>
          <p:nvPr/>
        </p:nvSpPr>
        <p:spPr>
          <a:xfrm rot="352488">
            <a:off x="4892293" y="1587635"/>
            <a:ext cx="2927495" cy="2420916"/>
          </a:xfrm>
          <a:custGeom>
            <a:avLst/>
            <a:gdLst/>
            <a:ahLst/>
            <a:cxnLst/>
            <a:rect l="l" t="t" r="r" b="b"/>
            <a:pathLst>
              <a:path w="2927495" h="2420916">
                <a:moveTo>
                  <a:pt x="0" y="0"/>
                </a:moveTo>
                <a:lnTo>
                  <a:pt x="2927496" y="0"/>
                </a:lnTo>
                <a:lnTo>
                  <a:pt x="2927496" y="2420917"/>
                </a:lnTo>
                <a:lnTo>
                  <a:pt x="0" y="2420917"/>
                </a:lnTo>
                <a:lnTo>
                  <a:pt x="0" y="0"/>
                </a:lnTo>
                <a:close/>
              </a:path>
            </a:pathLst>
          </a:custGeom>
          <a:blipFill>
            <a:blip r:embed="rId8"/>
            <a:stretch>
              <a:fillRect/>
            </a:stretch>
          </a:blipFill>
        </p:spPr>
        <p:txBody>
          <a:bodyPr/>
          <a:lstStyle/>
          <a:p>
            <a:endParaRPr lang="en-US"/>
          </a:p>
        </p:txBody>
      </p:sp>
      <p:sp>
        <p:nvSpPr>
          <p:cNvPr id="19" name="TextBox 19"/>
          <p:cNvSpPr txBox="1"/>
          <p:nvPr/>
        </p:nvSpPr>
        <p:spPr>
          <a:xfrm>
            <a:off x="433758" y="478731"/>
            <a:ext cx="9086023"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Why Now?</a:t>
            </a:r>
          </a:p>
        </p:txBody>
      </p:sp>
      <p:sp>
        <p:nvSpPr>
          <p:cNvPr id="20" name="TextBox 20"/>
          <p:cNvSpPr txBox="1"/>
          <p:nvPr/>
        </p:nvSpPr>
        <p:spPr>
          <a:xfrm>
            <a:off x="11973928" y="2732203"/>
            <a:ext cx="2026894" cy="591312"/>
          </a:xfrm>
          <a:prstGeom prst="rect">
            <a:avLst/>
          </a:prstGeom>
        </p:spPr>
        <p:txBody>
          <a:bodyPr lIns="0" tIns="0" rIns="0" bIns="0" rtlCol="0" anchor="t">
            <a:spAutoFit/>
          </a:bodyPr>
          <a:lstStyle/>
          <a:p>
            <a:pPr algn="ctr">
              <a:lnSpc>
                <a:spcPts val="2279"/>
              </a:lnSpc>
            </a:pPr>
            <a:r>
              <a:rPr lang="en-US" sz="2279">
                <a:solidFill>
                  <a:srgbClr val="000000"/>
                </a:solidFill>
                <a:latin typeface="Playfair Display"/>
                <a:ea typeface="Playfair Display"/>
                <a:cs typeface="Playfair Display"/>
                <a:sym typeface="Playfair Display"/>
              </a:rPr>
              <a:t>Sustainability awareness</a:t>
            </a:r>
          </a:p>
        </p:txBody>
      </p:sp>
      <p:sp>
        <p:nvSpPr>
          <p:cNvPr id="21" name="TextBox 21"/>
          <p:cNvSpPr txBox="1"/>
          <p:nvPr/>
        </p:nvSpPr>
        <p:spPr>
          <a:xfrm>
            <a:off x="10603555" y="5842618"/>
            <a:ext cx="1290028" cy="591312"/>
          </a:xfrm>
          <a:prstGeom prst="rect">
            <a:avLst/>
          </a:prstGeom>
        </p:spPr>
        <p:txBody>
          <a:bodyPr lIns="0" tIns="0" rIns="0" bIns="0" rtlCol="0" anchor="t">
            <a:spAutoFit/>
          </a:bodyPr>
          <a:lstStyle/>
          <a:p>
            <a:pPr algn="ctr">
              <a:lnSpc>
                <a:spcPts val="2279"/>
              </a:lnSpc>
            </a:pPr>
            <a:r>
              <a:rPr lang="en-US" sz="2279">
                <a:solidFill>
                  <a:srgbClr val="000000"/>
                </a:solidFill>
                <a:latin typeface="Playfair Display"/>
                <a:ea typeface="Playfair Display"/>
                <a:cs typeface="Playfair Display"/>
                <a:sym typeface="Playfair Display"/>
              </a:rPr>
              <a:t>Cost-of-living</a:t>
            </a:r>
          </a:p>
        </p:txBody>
      </p:sp>
      <p:sp>
        <p:nvSpPr>
          <p:cNvPr id="22" name="TextBox 22"/>
          <p:cNvSpPr txBox="1"/>
          <p:nvPr/>
        </p:nvSpPr>
        <p:spPr>
          <a:xfrm>
            <a:off x="13677938" y="5842618"/>
            <a:ext cx="2026894" cy="591312"/>
          </a:xfrm>
          <a:prstGeom prst="rect">
            <a:avLst/>
          </a:prstGeom>
        </p:spPr>
        <p:txBody>
          <a:bodyPr lIns="0" tIns="0" rIns="0" bIns="0" rtlCol="0" anchor="t">
            <a:spAutoFit/>
          </a:bodyPr>
          <a:lstStyle/>
          <a:p>
            <a:pPr algn="ctr">
              <a:lnSpc>
                <a:spcPts val="2279"/>
              </a:lnSpc>
            </a:pPr>
            <a:r>
              <a:rPr lang="en-US" sz="2279">
                <a:solidFill>
                  <a:srgbClr val="000000"/>
                </a:solidFill>
                <a:latin typeface="Playfair Display"/>
                <a:ea typeface="Playfair Display"/>
                <a:cs typeface="Playfair Display"/>
                <a:sym typeface="Playfair Display"/>
              </a:rPr>
              <a:t>Digital readiness</a:t>
            </a:r>
          </a:p>
        </p:txBody>
      </p:sp>
      <p:sp>
        <p:nvSpPr>
          <p:cNvPr id="23" name="TextBox 23"/>
          <p:cNvSpPr txBox="1"/>
          <p:nvPr/>
        </p:nvSpPr>
        <p:spPr>
          <a:xfrm>
            <a:off x="12431254" y="4740414"/>
            <a:ext cx="1246683" cy="591312"/>
          </a:xfrm>
          <a:prstGeom prst="rect">
            <a:avLst/>
          </a:prstGeom>
        </p:spPr>
        <p:txBody>
          <a:bodyPr lIns="0" tIns="0" rIns="0" bIns="0" rtlCol="0" anchor="t">
            <a:spAutoFit/>
          </a:bodyPr>
          <a:lstStyle/>
          <a:p>
            <a:pPr algn="ctr">
              <a:lnSpc>
                <a:spcPts val="2279"/>
              </a:lnSpc>
            </a:pPr>
            <a:r>
              <a:rPr lang="en-US" sz="2279">
                <a:solidFill>
                  <a:srgbClr val="FFFDEF"/>
                </a:solidFill>
                <a:latin typeface="Playfair Display"/>
                <a:ea typeface="Playfair Display"/>
                <a:cs typeface="Playfair Display"/>
                <a:sym typeface="Playfair Display"/>
              </a:rPr>
              <a:t>Smart Kitchen</a:t>
            </a:r>
          </a:p>
        </p:txBody>
      </p:sp>
      <p:sp>
        <p:nvSpPr>
          <p:cNvPr id="24" name="TextBox 24"/>
          <p:cNvSpPr txBox="1"/>
          <p:nvPr/>
        </p:nvSpPr>
        <p:spPr>
          <a:xfrm>
            <a:off x="8425567" y="4199641"/>
            <a:ext cx="2026894" cy="1291082"/>
          </a:xfrm>
          <a:prstGeom prst="rect">
            <a:avLst/>
          </a:prstGeom>
        </p:spPr>
        <p:txBody>
          <a:bodyPr lIns="0" tIns="0" rIns="0" bIns="0" rtlCol="0" anchor="t">
            <a:spAutoFit/>
          </a:bodyPr>
          <a:lstStyle/>
          <a:p>
            <a:pPr algn="ctr">
              <a:lnSpc>
                <a:spcPts val="2080"/>
              </a:lnSpc>
            </a:pPr>
            <a:endParaRPr/>
          </a:p>
          <a:p>
            <a:pPr algn="ctr">
              <a:lnSpc>
                <a:spcPts val="2080"/>
              </a:lnSpc>
            </a:pPr>
            <a:r>
              <a:rPr lang="en-US" sz="2080">
                <a:solidFill>
                  <a:srgbClr val="000000"/>
                </a:solidFill>
                <a:latin typeface="Playfair Display"/>
                <a:ea typeface="Playfair Display"/>
                <a:cs typeface="Playfair Display"/>
                <a:sym typeface="Playfair Display"/>
              </a:rPr>
              <a:t>People need to make food last longer</a:t>
            </a:r>
          </a:p>
          <a:p>
            <a:pPr algn="ctr">
              <a:lnSpc>
                <a:spcPts val="2080"/>
              </a:lnSpc>
            </a:pPr>
            <a:endParaRPr lang="en-US" sz="2080">
              <a:solidFill>
                <a:srgbClr val="000000"/>
              </a:solidFill>
              <a:latin typeface="Playfair Display"/>
              <a:ea typeface="Playfair Display"/>
              <a:cs typeface="Playfair Display"/>
              <a:sym typeface="Playfair Display"/>
            </a:endParaRPr>
          </a:p>
        </p:txBody>
      </p:sp>
      <p:sp>
        <p:nvSpPr>
          <p:cNvPr id="25" name="TextBox 25"/>
          <p:cNvSpPr txBox="1"/>
          <p:nvPr/>
        </p:nvSpPr>
        <p:spPr>
          <a:xfrm>
            <a:off x="7935998" y="6725594"/>
            <a:ext cx="3167566" cy="1291082"/>
          </a:xfrm>
          <a:prstGeom prst="rect">
            <a:avLst/>
          </a:prstGeom>
        </p:spPr>
        <p:txBody>
          <a:bodyPr lIns="0" tIns="0" rIns="0" bIns="0" rtlCol="0" anchor="t">
            <a:spAutoFit/>
          </a:bodyPr>
          <a:lstStyle/>
          <a:p>
            <a:pPr algn="ctr">
              <a:lnSpc>
                <a:spcPts val="2080"/>
              </a:lnSpc>
            </a:pPr>
            <a:endParaRPr/>
          </a:p>
          <a:p>
            <a:pPr algn="ctr">
              <a:lnSpc>
                <a:spcPts val="2080"/>
              </a:lnSpc>
            </a:pPr>
            <a:r>
              <a:rPr lang="en-US" sz="2080">
                <a:solidFill>
                  <a:srgbClr val="000000"/>
                </a:solidFill>
                <a:latin typeface="Playfair Display"/>
                <a:ea typeface="Playfair Display"/>
                <a:cs typeface="Playfair Display"/>
                <a:sym typeface="Playfair Display"/>
              </a:rPr>
              <a:t>Annual food inflation around 4.9% to 5.4%</a:t>
            </a:r>
          </a:p>
          <a:p>
            <a:pPr algn="ctr">
              <a:lnSpc>
                <a:spcPts val="2080"/>
              </a:lnSpc>
            </a:pPr>
            <a:endParaRPr lang="en-US" sz="2080">
              <a:solidFill>
                <a:srgbClr val="000000"/>
              </a:solidFill>
              <a:latin typeface="Playfair Display"/>
              <a:ea typeface="Playfair Display"/>
              <a:cs typeface="Playfair Display"/>
              <a:sym typeface="Playfair Display"/>
            </a:endParaRPr>
          </a:p>
          <a:p>
            <a:pPr algn="ctr">
              <a:lnSpc>
                <a:spcPts val="2080"/>
              </a:lnSpc>
            </a:pPr>
            <a:endParaRPr lang="en-US" sz="2080">
              <a:solidFill>
                <a:srgbClr val="000000"/>
              </a:solidFill>
              <a:latin typeface="Playfair Display"/>
              <a:ea typeface="Playfair Display"/>
              <a:cs typeface="Playfair Display"/>
              <a:sym typeface="Playfair Display"/>
            </a:endParaRPr>
          </a:p>
        </p:txBody>
      </p:sp>
      <p:sp>
        <p:nvSpPr>
          <p:cNvPr id="26" name="TextBox 26"/>
          <p:cNvSpPr txBox="1"/>
          <p:nvPr/>
        </p:nvSpPr>
        <p:spPr>
          <a:xfrm>
            <a:off x="15506738" y="3967435"/>
            <a:ext cx="2560735" cy="1033907"/>
          </a:xfrm>
          <a:prstGeom prst="rect">
            <a:avLst/>
          </a:prstGeom>
        </p:spPr>
        <p:txBody>
          <a:bodyPr lIns="0" tIns="0" rIns="0" bIns="0" rtlCol="0" anchor="t">
            <a:spAutoFit/>
          </a:bodyPr>
          <a:lstStyle/>
          <a:p>
            <a:pPr algn="ctr">
              <a:lnSpc>
                <a:spcPts val="2080"/>
              </a:lnSpc>
            </a:pPr>
            <a:endParaRPr/>
          </a:p>
          <a:p>
            <a:pPr algn="ctr">
              <a:lnSpc>
                <a:spcPts val="2080"/>
              </a:lnSpc>
            </a:pPr>
            <a:r>
              <a:rPr lang="en-US" sz="2080">
                <a:solidFill>
                  <a:srgbClr val="000000"/>
                </a:solidFill>
                <a:latin typeface="Playfair Display"/>
                <a:ea typeface="Playfair Display"/>
                <a:cs typeface="Playfair Display"/>
                <a:sym typeface="Playfair Display"/>
              </a:rPr>
              <a:t>45% Regularly use grocery apps in the UK</a:t>
            </a:r>
          </a:p>
        </p:txBody>
      </p:sp>
      <p:sp>
        <p:nvSpPr>
          <p:cNvPr id="27" name="TextBox 27"/>
          <p:cNvSpPr txBox="1"/>
          <p:nvPr/>
        </p:nvSpPr>
        <p:spPr>
          <a:xfrm>
            <a:off x="14467636" y="7185334"/>
            <a:ext cx="3839414" cy="519557"/>
          </a:xfrm>
          <a:prstGeom prst="rect">
            <a:avLst/>
          </a:prstGeom>
        </p:spPr>
        <p:txBody>
          <a:bodyPr lIns="0" tIns="0" rIns="0" bIns="0" rtlCol="0" anchor="t">
            <a:spAutoFit/>
          </a:bodyPr>
          <a:lstStyle/>
          <a:p>
            <a:pPr algn="ctr">
              <a:lnSpc>
                <a:spcPts val="2080"/>
              </a:lnSpc>
            </a:pPr>
            <a:r>
              <a:rPr lang="en-US" sz="2080">
                <a:solidFill>
                  <a:srgbClr val="000000"/>
                </a:solidFill>
                <a:latin typeface="Playfair Display"/>
                <a:ea typeface="Playfair Display"/>
                <a:cs typeface="Playfair Display"/>
                <a:sym typeface="Playfair Display"/>
              </a:rPr>
              <a:t>Digital food related behaviour already present</a:t>
            </a:r>
          </a:p>
        </p:txBody>
      </p:sp>
      <p:grpSp>
        <p:nvGrpSpPr>
          <p:cNvPr id="28" name="Group 28"/>
          <p:cNvGrpSpPr/>
          <p:nvPr/>
        </p:nvGrpSpPr>
        <p:grpSpPr>
          <a:xfrm>
            <a:off x="8473669" y="1585101"/>
            <a:ext cx="3957586" cy="1379669"/>
            <a:chOff x="0" y="0"/>
            <a:chExt cx="5276781" cy="1839558"/>
          </a:xfrm>
        </p:grpSpPr>
        <p:sp>
          <p:nvSpPr>
            <p:cNvPr id="29" name="TextBox 29"/>
            <p:cNvSpPr txBox="1"/>
            <p:nvPr/>
          </p:nvSpPr>
          <p:spPr>
            <a:xfrm>
              <a:off x="931234" y="1233175"/>
              <a:ext cx="3414314" cy="606383"/>
            </a:xfrm>
            <a:prstGeom prst="rect">
              <a:avLst/>
            </a:prstGeom>
          </p:spPr>
          <p:txBody>
            <a:bodyPr lIns="0" tIns="0" rIns="0" bIns="0" rtlCol="0" anchor="t">
              <a:spAutoFit/>
            </a:bodyPr>
            <a:lstStyle/>
            <a:p>
              <a:pPr algn="ctr">
                <a:lnSpc>
                  <a:spcPts val="1780"/>
                </a:lnSpc>
              </a:pPr>
              <a:endParaRPr/>
            </a:p>
            <a:p>
              <a:pPr algn="ctr">
                <a:lnSpc>
                  <a:spcPts val="1780"/>
                </a:lnSpc>
              </a:pPr>
              <a:r>
                <a:rPr lang="en-US" sz="1780" i="1">
                  <a:solidFill>
                    <a:srgbClr val="000000"/>
                  </a:solidFill>
                  <a:latin typeface="Playfair Display Italics"/>
                  <a:ea typeface="Playfair Display Italics"/>
                  <a:cs typeface="Playfair Display Italics"/>
                  <a:sym typeface="Playfair Display Italics"/>
                </a:rPr>
                <a:t> (UN SDG 12.3, 3)</a:t>
              </a:r>
            </a:p>
          </p:txBody>
        </p:sp>
        <p:sp>
          <p:nvSpPr>
            <p:cNvPr id="30" name="TextBox 30"/>
            <p:cNvSpPr txBox="1"/>
            <p:nvPr/>
          </p:nvSpPr>
          <p:spPr>
            <a:xfrm>
              <a:off x="0" y="47625"/>
              <a:ext cx="5276781" cy="1737318"/>
            </a:xfrm>
            <a:prstGeom prst="rect">
              <a:avLst/>
            </a:prstGeom>
          </p:spPr>
          <p:txBody>
            <a:bodyPr lIns="0" tIns="0" rIns="0" bIns="0" rtlCol="0" anchor="t">
              <a:spAutoFit/>
            </a:bodyPr>
            <a:lstStyle/>
            <a:p>
              <a:pPr algn="ctr">
                <a:lnSpc>
                  <a:spcPts val="2080"/>
                </a:lnSpc>
              </a:pPr>
              <a:endParaRPr/>
            </a:p>
            <a:p>
              <a:pPr algn="ctr">
                <a:lnSpc>
                  <a:spcPts val="2080"/>
                </a:lnSpc>
              </a:pPr>
              <a:r>
                <a:rPr lang="en-US" sz="2080">
                  <a:solidFill>
                    <a:srgbClr val="000000"/>
                  </a:solidFill>
                  <a:latin typeface="Playfair Display"/>
                  <a:ea typeface="Playfair Display"/>
                  <a:cs typeface="Playfair Display"/>
                  <a:sym typeface="Playfair Display"/>
                </a:rPr>
                <a:t>UK to halve food waste by 2030, and ensure healthy lives and well-being</a:t>
              </a:r>
            </a:p>
            <a:p>
              <a:pPr algn="ctr">
                <a:lnSpc>
                  <a:spcPts val="2080"/>
                </a:lnSpc>
              </a:pPr>
              <a:endParaRPr lang="en-US" sz="2080">
                <a:solidFill>
                  <a:srgbClr val="000000"/>
                </a:solidFill>
                <a:latin typeface="Playfair Display"/>
                <a:ea typeface="Playfair Display"/>
                <a:cs typeface="Playfair Display"/>
                <a:sym typeface="Playfair Display"/>
              </a:endParaRPr>
            </a:p>
          </p:txBody>
        </p:sp>
      </p:grpSp>
      <p:sp>
        <p:nvSpPr>
          <p:cNvPr id="31" name="TextBox 31"/>
          <p:cNvSpPr txBox="1"/>
          <p:nvPr/>
        </p:nvSpPr>
        <p:spPr>
          <a:xfrm>
            <a:off x="13677938" y="1416513"/>
            <a:ext cx="2955745" cy="1291082"/>
          </a:xfrm>
          <a:prstGeom prst="rect">
            <a:avLst/>
          </a:prstGeom>
        </p:spPr>
        <p:txBody>
          <a:bodyPr lIns="0" tIns="0" rIns="0" bIns="0" rtlCol="0" anchor="t">
            <a:spAutoFit/>
          </a:bodyPr>
          <a:lstStyle/>
          <a:p>
            <a:pPr algn="ctr">
              <a:lnSpc>
                <a:spcPts val="2080"/>
              </a:lnSpc>
            </a:pPr>
            <a:endParaRPr/>
          </a:p>
          <a:p>
            <a:pPr algn="ctr">
              <a:lnSpc>
                <a:spcPts val="2080"/>
              </a:lnSpc>
            </a:pPr>
            <a:r>
              <a:rPr lang="en-US" sz="2080">
                <a:solidFill>
                  <a:srgbClr val="000000"/>
                </a:solidFill>
                <a:latin typeface="Playfair Display"/>
                <a:ea typeface="Playfair Display"/>
                <a:cs typeface="Playfair Display"/>
                <a:sym typeface="Playfair Display"/>
              </a:rPr>
              <a:t>Sustainability &amp; growing eco-consciousness are a major trend </a:t>
            </a:r>
          </a:p>
          <a:p>
            <a:pPr algn="ctr">
              <a:lnSpc>
                <a:spcPts val="2080"/>
              </a:lnSpc>
            </a:pPr>
            <a:endParaRPr lang="en-US" sz="2080">
              <a:solidFill>
                <a:srgbClr val="000000"/>
              </a:solidFill>
              <a:latin typeface="Playfair Display"/>
              <a:ea typeface="Playfair Display"/>
              <a:cs typeface="Playfair Display"/>
              <a:sym typeface="Playfair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sp>
        <p:nvSpPr>
          <p:cNvPr id="2" name="Freeform 2"/>
          <p:cNvSpPr/>
          <p:nvPr/>
        </p:nvSpPr>
        <p:spPr>
          <a:xfrm>
            <a:off x="6293629" y="2443721"/>
            <a:ext cx="3349962" cy="6163767"/>
          </a:xfrm>
          <a:custGeom>
            <a:avLst/>
            <a:gdLst/>
            <a:ahLst/>
            <a:cxnLst/>
            <a:rect l="l" t="t" r="r" b="b"/>
            <a:pathLst>
              <a:path w="3349962" h="6163767">
                <a:moveTo>
                  <a:pt x="0" y="0"/>
                </a:moveTo>
                <a:lnTo>
                  <a:pt x="3349961" y="0"/>
                </a:lnTo>
                <a:lnTo>
                  <a:pt x="3349961" y="6163767"/>
                </a:lnTo>
                <a:lnTo>
                  <a:pt x="0" y="6163767"/>
                </a:lnTo>
                <a:lnTo>
                  <a:pt x="0" y="0"/>
                </a:lnTo>
                <a:close/>
              </a:path>
            </a:pathLst>
          </a:custGeom>
          <a:blipFill>
            <a:blip r:embed="rId3"/>
            <a:stretch>
              <a:fillRect l="-5284" r="-5284"/>
            </a:stretch>
          </a:blipFill>
        </p:spPr>
        <p:txBody>
          <a:bodyPr/>
          <a:lstStyle/>
          <a:p>
            <a:endParaRPr lang="en-US"/>
          </a:p>
        </p:txBody>
      </p:sp>
      <p:sp>
        <p:nvSpPr>
          <p:cNvPr id="3" name="Freeform 3"/>
          <p:cNvSpPr/>
          <p:nvPr/>
        </p:nvSpPr>
        <p:spPr>
          <a:xfrm>
            <a:off x="287665" y="2443721"/>
            <a:ext cx="3336876" cy="6163767"/>
          </a:xfrm>
          <a:custGeom>
            <a:avLst/>
            <a:gdLst/>
            <a:ahLst/>
            <a:cxnLst/>
            <a:rect l="l" t="t" r="r" b="b"/>
            <a:pathLst>
              <a:path w="3336876" h="6163767">
                <a:moveTo>
                  <a:pt x="0" y="0"/>
                </a:moveTo>
                <a:lnTo>
                  <a:pt x="3336876" y="0"/>
                </a:lnTo>
                <a:lnTo>
                  <a:pt x="3336876" y="6163767"/>
                </a:lnTo>
                <a:lnTo>
                  <a:pt x="0" y="6163767"/>
                </a:lnTo>
                <a:lnTo>
                  <a:pt x="0" y="0"/>
                </a:lnTo>
                <a:close/>
              </a:path>
            </a:pathLst>
          </a:custGeom>
          <a:blipFill>
            <a:blip r:embed="rId4"/>
            <a:stretch>
              <a:fillRect l="-5284" r="-5284"/>
            </a:stretch>
          </a:blipFill>
        </p:spPr>
        <p:txBody>
          <a:bodyPr/>
          <a:lstStyle/>
          <a:p>
            <a:endParaRPr lang="en-US"/>
          </a:p>
        </p:txBody>
      </p:sp>
      <p:sp>
        <p:nvSpPr>
          <p:cNvPr id="4" name="Freeform 4"/>
          <p:cNvSpPr/>
          <p:nvPr/>
        </p:nvSpPr>
        <p:spPr>
          <a:xfrm>
            <a:off x="3294827" y="2443721"/>
            <a:ext cx="3472964" cy="6163767"/>
          </a:xfrm>
          <a:custGeom>
            <a:avLst/>
            <a:gdLst/>
            <a:ahLst/>
            <a:cxnLst/>
            <a:rect l="l" t="t" r="r" b="b"/>
            <a:pathLst>
              <a:path w="3472964" h="6163767">
                <a:moveTo>
                  <a:pt x="0" y="0"/>
                </a:moveTo>
                <a:lnTo>
                  <a:pt x="3472964" y="0"/>
                </a:lnTo>
                <a:lnTo>
                  <a:pt x="3472964" y="6163767"/>
                </a:lnTo>
                <a:lnTo>
                  <a:pt x="0" y="6163767"/>
                </a:lnTo>
                <a:lnTo>
                  <a:pt x="0" y="0"/>
                </a:lnTo>
                <a:close/>
              </a:path>
            </a:pathLst>
          </a:custGeom>
          <a:blipFill>
            <a:blip r:embed="rId5"/>
            <a:stretch>
              <a:fillRect l="-5097" r="-1556"/>
            </a:stretch>
          </a:blipFill>
        </p:spPr>
        <p:txBody>
          <a:bodyPr/>
          <a:lstStyle/>
          <a:p>
            <a:endParaRPr lang="en-US"/>
          </a:p>
        </p:txBody>
      </p:sp>
      <p:grpSp>
        <p:nvGrpSpPr>
          <p:cNvPr id="5" name="Group 5"/>
          <p:cNvGrpSpPr/>
          <p:nvPr/>
        </p:nvGrpSpPr>
        <p:grpSpPr>
          <a:xfrm>
            <a:off x="659871" y="3538258"/>
            <a:ext cx="2356907" cy="4570419"/>
            <a:chOff x="0" y="0"/>
            <a:chExt cx="3142543" cy="6093892"/>
          </a:xfrm>
        </p:grpSpPr>
        <p:sp>
          <p:nvSpPr>
            <p:cNvPr id="6" name="Freeform 6"/>
            <p:cNvSpPr/>
            <p:nvPr/>
          </p:nvSpPr>
          <p:spPr>
            <a:xfrm>
              <a:off x="491772" y="349623"/>
              <a:ext cx="2159000" cy="3302000"/>
            </a:xfrm>
            <a:custGeom>
              <a:avLst/>
              <a:gdLst/>
              <a:ahLst/>
              <a:cxnLst/>
              <a:rect l="l" t="t" r="r" b="b"/>
              <a:pathLst>
                <a:path w="2159000" h="3302000">
                  <a:moveTo>
                    <a:pt x="0" y="0"/>
                  </a:moveTo>
                  <a:lnTo>
                    <a:pt x="2159000" y="0"/>
                  </a:lnTo>
                  <a:lnTo>
                    <a:pt x="2159000" y="3302000"/>
                  </a:lnTo>
                  <a:lnTo>
                    <a:pt x="0" y="3302000"/>
                  </a:lnTo>
                  <a:lnTo>
                    <a:pt x="0" y="0"/>
                  </a:lnTo>
                  <a:close/>
                </a:path>
              </a:pathLst>
            </a:custGeom>
            <a:blipFill>
              <a:blip r:embed="rId6"/>
              <a:stretch>
                <a:fillRect r="-2090" b="-1447"/>
              </a:stretch>
            </a:blipFill>
          </p:spPr>
          <p:txBody>
            <a:bodyPr/>
            <a:lstStyle/>
            <a:p>
              <a:endParaRPr lang="en-US"/>
            </a:p>
          </p:txBody>
        </p:sp>
        <p:sp>
          <p:nvSpPr>
            <p:cNvPr id="7" name="TextBox 7"/>
            <p:cNvSpPr txBox="1"/>
            <p:nvPr/>
          </p:nvSpPr>
          <p:spPr>
            <a:xfrm>
              <a:off x="990516" y="47625"/>
              <a:ext cx="1161511" cy="457784"/>
            </a:xfrm>
            <a:prstGeom prst="rect">
              <a:avLst/>
            </a:prstGeom>
          </p:spPr>
          <p:txBody>
            <a:bodyPr lIns="0" tIns="0" rIns="0" bIns="0" rtlCol="0" anchor="t">
              <a:spAutoFit/>
            </a:bodyPr>
            <a:lstStyle/>
            <a:p>
              <a:pPr algn="ctr">
                <a:lnSpc>
                  <a:spcPts val="2548"/>
                </a:lnSpc>
              </a:pPr>
              <a:r>
                <a:rPr lang="en-US" sz="2548" b="1">
                  <a:solidFill>
                    <a:srgbClr val="2E7040"/>
                  </a:solidFill>
                  <a:latin typeface="Playfair Display Bold"/>
                  <a:ea typeface="Playfair Display Bold"/>
                  <a:cs typeface="Playfair Display Bold"/>
                  <a:sym typeface="Playfair Display Bold"/>
                </a:rPr>
                <a:t>Scan</a:t>
              </a:r>
            </a:p>
          </p:txBody>
        </p:sp>
        <p:sp>
          <p:nvSpPr>
            <p:cNvPr id="8" name="TextBox 8"/>
            <p:cNvSpPr txBox="1"/>
            <p:nvPr/>
          </p:nvSpPr>
          <p:spPr>
            <a:xfrm>
              <a:off x="0" y="3689723"/>
              <a:ext cx="3142543" cy="2404169"/>
            </a:xfrm>
            <a:prstGeom prst="rect">
              <a:avLst/>
            </a:prstGeom>
          </p:spPr>
          <p:txBody>
            <a:bodyPr lIns="0" tIns="0" rIns="0" bIns="0" rtlCol="0" anchor="t">
              <a:spAutoFit/>
            </a:bodyPr>
            <a:lstStyle/>
            <a:p>
              <a:pPr algn="ctr">
                <a:lnSpc>
                  <a:spcPts val="2379"/>
                </a:lnSpc>
              </a:pPr>
              <a:r>
                <a:rPr lang="en-US" sz="2379">
                  <a:solidFill>
                    <a:srgbClr val="000000"/>
                  </a:solidFill>
                  <a:latin typeface="Playfair Display"/>
                  <a:ea typeface="Playfair Display"/>
                  <a:cs typeface="Playfair Display"/>
                  <a:sym typeface="Playfair Display"/>
                </a:rPr>
                <a:t>Smart food scanning using</a:t>
              </a:r>
            </a:p>
            <a:p>
              <a:pPr algn="ctr">
                <a:lnSpc>
                  <a:spcPts val="2379"/>
                </a:lnSpc>
              </a:pPr>
              <a:r>
                <a:rPr lang="en-US" sz="2379">
                  <a:solidFill>
                    <a:srgbClr val="000000"/>
                  </a:solidFill>
                  <a:latin typeface="Playfair Display"/>
                  <a:ea typeface="Playfair Display"/>
                  <a:cs typeface="Playfair Display"/>
                  <a:sym typeface="Playfair Display"/>
                </a:rPr>
                <a:t>Barcode API and AI-Powered OCR Text Recognition</a:t>
              </a:r>
            </a:p>
            <a:p>
              <a:pPr algn="ctr">
                <a:lnSpc>
                  <a:spcPts val="2348"/>
                </a:lnSpc>
              </a:pPr>
              <a:endParaRPr lang="en-US" sz="2379">
                <a:solidFill>
                  <a:srgbClr val="000000"/>
                </a:solidFill>
                <a:latin typeface="Playfair Display"/>
                <a:ea typeface="Playfair Display"/>
                <a:cs typeface="Playfair Display"/>
                <a:sym typeface="Playfair Display"/>
              </a:endParaRPr>
            </a:p>
          </p:txBody>
        </p:sp>
      </p:grpSp>
      <p:grpSp>
        <p:nvGrpSpPr>
          <p:cNvPr id="9" name="Group 9"/>
          <p:cNvGrpSpPr/>
          <p:nvPr/>
        </p:nvGrpSpPr>
        <p:grpSpPr>
          <a:xfrm>
            <a:off x="-1052258" y="9091595"/>
            <a:ext cx="20392515" cy="3086100"/>
            <a:chOff x="0" y="0"/>
            <a:chExt cx="5370868" cy="812800"/>
          </a:xfrm>
        </p:grpSpPr>
        <p:sp>
          <p:nvSpPr>
            <p:cNvPr id="10" name="Freeform 10"/>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11" name="TextBox 11"/>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12" name="Freeform 12"/>
          <p:cNvSpPr/>
          <p:nvPr/>
        </p:nvSpPr>
        <p:spPr>
          <a:xfrm>
            <a:off x="10234140" y="1844823"/>
            <a:ext cx="7089692" cy="7080830"/>
          </a:xfrm>
          <a:custGeom>
            <a:avLst/>
            <a:gdLst/>
            <a:ahLst/>
            <a:cxnLst/>
            <a:rect l="l" t="t" r="r" b="b"/>
            <a:pathLst>
              <a:path w="7089692" h="7080830">
                <a:moveTo>
                  <a:pt x="0" y="0"/>
                </a:moveTo>
                <a:lnTo>
                  <a:pt x="7089692" y="0"/>
                </a:lnTo>
                <a:lnTo>
                  <a:pt x="7089692" y="7080830"/>
                </a:lnTo>
                <a:lnTo>
                  <a:pt x="0" y="7080830"/>
                </a:lnTo>
                <a:lnTo>
                  <a:pt x="0" y="0"/>
                </a:lnTo>
                <a:close/>
              </a:path>
            </a:pathLst>
          </a:custGeom>
          <a:blipFill>
            <a:blip r:embed="rId7"/>
            <a:stretch>
              <a:fillRect/>
            </a:stretch>
          </a:blipFill>
        </p:spPr>
        <p:txBody>
          <a:bodyPr/>
          <a:lstStyle/>
          <a:p>
            <a:endParaRPr lang="en-US"/>
          </a:p>
        </p:txBody>
      </p:sp>
      <p:sp>
        <p:nvSpPr>
          <p:cNvPr id="13" name="TextBox 13"/>
          <p:cNvSpPr txBox="1"/>
          <p:nvPr/>
        </p:nvSpPr>
        <p:spPr>
          <a:xfrm>
            <a:off x="433758" y="478731"/>
            <a:ext cx="11387680" cy="1200150"/>
          </a:xfrm>
          <a:prstGeom prst="rect">
            <a:avLst/>
          </a:prstGeom>
        </p:spPr>
        <p:txBody>
          <a:bodyPr lIns="0" tIns="0" rIns="0" bIns="0" rtlCol="0" anchor="t">
            <a:spAutoFit/>
          </a:bodyPr>
          <a:lstStyle/>
          <a:p>
            <a:pPr algn="l">
              <a:lnSpc>
                <a:spcPts val="9000"/>
              </a:lnSpc>
            </a:pPr>
            <a:r>
              <a:rPr lang="en-US" sz="9000" b="1">
                <a:solidFill>
                  <a:srgbClr val="2E7040"/>
                </a:solidFill>
                <a:latin typeface="Playfair Display Bold"/>
                <a:ea typeface="Playfair Display Bold"/>
                <a:cs typeface="Playfair Display Bold"/>
                <a:sym typeface="Playfair Display Bold"/>
              </a:rPr>
              <a:t>Solutions &amp; Features</a:t>
            </a:r>
          </a:p>
        </p:txBody>
      </p:sp>
      <p:grpSp>
        <p:nvGrpSpPr>
          <p:cNvPr id="14" name="Group 14"/>
          <p:cNvGrpSpPr/>
          <p:nvPr/>
        </p:nvGrpSpPr>
        <p:grpSpPr>
          <a:xfrm>
            <a:off x="2997985" y="3538258"/>
            <a:ext cx="4119841" cy="5383556"/>
            <a:chOff x="0" y="0"/>
            <a:chExt cx="5493121" cy="7178074"/>
          </a:xfrm>
        </p:grpSpPr>
        <p:sp>
          <p:nvSpPr>
            <p:cNvPr id="15" name="Freeform 15"/>
            <p:cNvSpPr/>
            <p:nvPr/>
          </p:nvSpPr>
          <p:spPr>
            <a:xfrm>
              <a:off x="2867407" y="252705"/>
              <a:ext cx="2159000" cy="3302000"/>
            </a:xfrm>
            <a:custGeom>
              <a:avLst/>
              <a:gdLst/>
              <a:ahLst/>
              <a:cxnLst/>
              <a:rect l="l" t="t" r="r" b="b"/>
              <a:pathLst>
                <a:path w="2159000" h="3302000">
                  <a:moveTo>
                    <a:pt x="0" y="0"/>
                  </a:moveTo>
                  <a:lnTo>
                    <a:pt x="2159000" y="0"/>
                  </a:lnTo>
                  <a:lnTo>
                    <a:pt x="2159000" y="3302000"/>
                  </a:lnTo>
                  <a:lnTo>
                    <a:pt x="0" y="3302000"/>
                  </a:lnTo>
                  <a:lnTo>
                    <a:pt x="0" y="0"/>
                  </a:lnTo>
                  <a:close/>
                </a:path>
              </a:pathLst>
            </a:custGeom>
            <a:blipFill>
              <a:blip r:embed="rId8"/>
              <a:stretch>
                <a:fillRect r="-1009"/>
              </a:stretch>
            </a:blipFill>
          </p:spPr>
          <p:txBody>
            <a:bodyPr/>
            <a:lstStyle/>
            <a:p>
              <a:endParaRPr lang="en-US"/>
            </a:p>
          </p:txBody>
        </p:sp>
        <p:sp>
          <p:nvSpPr>
            <p:cNvPr id="16" name="TextBox 16"/>
            <p:cNvSpPr txBox="1"/>
            <p:nvPr/>
          </p:nvSpPr>
          <p:spPr>
            <a:xfrm>
              <a:off x="3240892" y="47625"/>
              <a:ext cx="1412031" cy="457784"/>
            </a:xfrm>
            <a:prstGeom prst="rect">
              <a:avLst/>
            </a:prstGeom>
          </p:spPr>
          <p:txBody>
            <a:bodyPr lIns="0" tIns="0" rIns="0" bIns="0" rtlCol="0" anchor="t">
              <a:spAutoFit/>
            </a:bodyPr>
            <a:lstStyle/>
            <a:p>
              <a:pPr algn="ctr">
                <a:lnSpc>
                  <a:spcPts val="2548"/>
                </a:lnSpc>
              </a:pPr>
              <a:r>
                <a:rPr lang="en-US" sz="2548" b="1">
                  <a:solidFill>
                    <a:srgbClr val="2E7040"/>
                  </a:solidFill>
                  <a:latin typeface="Playfair Display Bold"/>
                  <a:ea typeface="Playfair Display Bold"/>
                  <a:cs typeface="Playfair Display Bold"/>
                  <a:sym typeface="Playfair Display Bold"/>
                </a:rPr>
                <a:t>Notify</a:t>
              </a:r>
            </a:p>
          </p:txBody>
        </p:sp>
        <p:sp>
          <p:nvSpPr>
            <p:cNvPr id="17" name="Freeform 17"/>
            <p:cNvSpPr/>
            <p:nvPr/>
          </p:nvSpPr>
          <p:spPr>
            <a:xfrm>
              <a:off x="320567" y="252705"/>
              <a:ext cx="2159000" cy="3302000"/>
            </a:xfrm>
            <a:custGeom>
              <a:avLst/>
              <a:gdLst/>
              <a:ahLst/>
              <a:cxnLst/>
              <a:rect l="l" t="t" r="r" b="b"/>
              <a:pathLst>
                <a:path w="2159000" h="3302000">
                  <a:moveTo>
                    <a:pt x="0" y="0"/>
                  </a:moveTo>
                  <a:lnTo>
                    <a:pt x="2159000" y="0"/>
                  </a:lnTo>
                  <a:lnTo>
                    <a:pt x="2159000" y="3302000"/>
                  </a:lnTo>
                  <a:lnTo>
                    <a:pt x="0" y="3302000"/>
                  </a:lnTo>
                  <a:lnTo>
                    <a:pt x="0" y="0"/>
                  </a:lnTo>
                  <a:close/>
                </a:path>
              </a:pathLst>
            </a:custGeom>
            <a:blipFill>
              <a:blip r:embed="rId9"/>
              <a:stretch>
                <a:fillRect r="-1272" b="-2504"/>
              </a:stretch>
            </a:blipFill>
          </p:spPr>
          <p:txBody>
            <a:bodyPr/>
            <a:lstStyle/>
            <a:p>
              <a:endParaRPr lang="en-US"/>
            </a:p>
          </p:txBody>
        </p:sp>
        <p:sp>
          <p:nvSpPr>
            <p:cNvPr id="18" name="TextBox 18"/>
            <p:cNvSpPr txBox="1"/>
            <p:nvPr/>
          </p:nvSpPr>
          <p:spPr>
            <a:xfrm>
              <a:off x="756682" y="47625"/>
              <a:ext cx="1286771" cy="457784"/>
            </a:xfrm>
            <a:prstGeom prst="rect">
              <a:avLst/>
            </a:prstGeom>
          </p:spPr>
          <p:txBody>
            <a:bodyPr lIns="0" tIns="0" rIns="0" bIns="0" rtlCol="0" anchor="t">
              <a:spAutoFit/>
            </a:bodyPr>
            <a:lstStyle/>
            <a:p>
              <a:pPr algn="ctr">
                <a:lnSpc>
                  <a:spcPts val="2548"/>
                </a:lnSpc>
              </a:pPr>
              <a:r>
                <a:rPr lang="en-US" sz="2548" b="1">
                  <a:solidFill>
                    <a:srgbClr val="2E7040"/>
                  </a:solidFill>
                  <a:latin typeface="Playfair Display Bold"/>
                  <a:ea typeface="Playfair Display Bold"/>
                  <a:cs typeface="Playfair Display Bold"/>
                  <a:sym typeface="Playfair Display Bold"/>
                </a:rPr>
                <a:t>Track</a:t>
              </a:r>
            </a:p>
          </p:txBody>
        </p:sp>
        <p:sp>
          <p:nvSpPr>
            <p:cNvPr id="19" name="TextBox 19"/>
            <p:cNvSpPr txBox="1"/>
            <p:nvPr/>
          </p:nvSpPr>
          <p:spPr>
            <a:xfrm>
              <a:off x="0" y="3592805"/>
              <a:ext cx="5493121" cy="3585269"/>
            </a:xfrm>
            <a:prstGeom prst="rect">
              <a:avLst/>
            </a:prstGeom>
          </p:spPr>
          <p:txBody>
            <a:bodyPr lIns="0" tIns="0" rIns="0" bIns="0" rtlCol="0" anchor="t">
              <a:spAutoFit/>
            </a:bodyPr>
            <a:lstStyle/>
            <a:p>
              <a:pPr algn="ctr">
                <a:lnSpc>
                  <a:spcPts val="2379"/>
                </a:lnSpc>
              </a:pPr>
              <a:r>
                <a:rPr lang="en-US" sz="2379">
                  <a:solidFill>
                    <a:srgbClr val="000000"/>
                  </a:solidFill>
                  <a:latin typeface="Playfair Display"/>
                  <a:ea typeface="Playfair Display"/>
                  <a:cs typeface="Playfair Display"/>
                  <a:sym typeface="Playfair Display"/>
                </a:rPr>
                <a:t>Back-end Scheduler, automates tracking and notifications.</a:t>
              </a:r>
            </a:p>
            <a:p>
              <a:pPr algn="ctr">
                <a:lnSpc>
                  <a:spcPts val="2379"/>
                </a:lnSpc>
              </a:pPr>
              <a:endParaRPr lang="en-US" sz="2379">
                <a:solidFill>
                  <a:srgbClr val="000000"/>
                </a:solidFill>
                <a:latin typeface="Playfair Display"/>
                <a:ea typeface="Playfair Display"/>
                <a:cs typeface="Playfair Display"/>
                <a:sym typeface="Playfair Display"/>
              </a:endParaRPr>
            </a:p>
            <a:p>
              <a:pPr algn="ctr">
                <a:lnSpc>
                  <a:spcPts val="2379"/>
                </a:lnSpc>
              </a:pPr>
              <a:r>
                <a:rPr lang="en-US" sz="2379">
                  <a:solidFill>
                    <a:srgbClr val="000000"/>
                  </a:solidFill>
                  <a:latin typeface="Playfair Display"/>
                  <a:ea typeface="Playfair Display"/>
                  <a:cs typeface="Playfair Display"/>
                  <a:sym typeface="Playfair Display"/>
                </a:rPr>
                <a:t>Reduces waste, costs and encourages sustainable habits.</a:t>
              </a:r>
            </a:p>
            <a:p>
              <a:pPr algn="ctr">
                <a:lnSpc>
                  <a:spcPts val="2379"/>
                </a:lnSpc>
              </a:pPr>
              <a:endParaRPr lang="en-US" sz="2379">
                <a:solidFill>
                  <a:srgbClr val="000000"/>
                </a:solidFill>
                <a:latin typeface="Playfair Display"/>
                <a:ea typeface="Playfair Display"/>
                <a:cs typeface="Playfair Display"/>
                <a:sym typeface="Playfair Display"/>
              </a:endParaRPr>
            </a:p>
            <a:p>
              <a:pPr algn="ctr">
                <a:lnSpc>
                  <a:spcPts val="2348"/>
                </a:lnSpc>
              </a:pPr>
              <a:endParaRPr lang="en-US" sz="2379">
                <a:solidFill>
                  <a:srgbClr val="000000"/>
                </a:solidFill>
                <a:latin typeface="Playfair Display"/>
                <a:ea typeface="Playfair Display"/>
                <a:cs typeface="Playfair Display"/>
                <a:sym typeface="Playfair Display"/>
              </a:endParaRPr>
            </a:p>
          </p:txBody>
        </p:sp>
      </p:grpSp>
      <p:grpSp>
        <p:nvGrpSpPr>
          <p:cNvPr id="20" name="Group 20"/>
          <p:cNvGrpSpPr/>
          <p:nvPr/>
        </p:nvGrpSpPr>
        <p:grpSpPr>
          <a:xfrm>
            <a:off x="7073895" y="3538258"/>
            <a:ext cx="2054790" cy="5069231"/>
            <a:chOff x="0" y="0"/>
            <a:chExt cx="2739720" cy="6758974"/>
          </a:xfrm>
        </p:grpSpPr>
        <p:sp>
          <p:nvSpPr>
            <p:cNvPr id="21" name="Freeform 21"/>
            <p:cNvSpPr/>
            <p:nvPr/>
          </p:nvSpPr>
          <p:spPr>
            <a:xfrm>
              <a:off x="290360" y="227305"/>
              <a:ext cx="2159000" cy="3302000"/>
            </a:xfrm>
            <a:custGeom>
              <a:avLst/>
              <a:gdLst/>
              <a:ahLst/>
              <a:cxnLst/>
              <a:rect l="l" t="t" r="r" b="b"/>
              <a:pathLst>
                <a:path w="2159000" h="3302000">
                  <a:moveTo>
                    <a:pt x="0" y="0"/>
                  </a:moveTo>
                  <a:lnTo>
                    <a:pt x="2159000" y="0"/>
                  </a:lnTo>
                  <a:lnTo>
                    <a:pt x="2159000" y="3302000"/>
                  </a:lnTo>
                  <a:lnTo>
                    <a:pt x="0" y="3302000"/>
                  </a:lnTo>
                  <a:lnTo>
                    <a:pt x="0" y="0"/>
                  </a:lnTo>
                  <a:close/>
                </a:path>
              </a:pathLst>
            </a:custGeom>
            <a:blipFill>
              <a:blip r:embed="rId10"/>
              <a:stretch>
                <a:fillRect r="-1960"/>
              </a:stretch>
            </a:blipFill>
          </p:spPr>
          <p:txBody>
            <a:bodyPr/>
            <a:lstStyle/>
            <a:p>
              <a:endParaRPr lang="en-US"/>
            </a:p>
          </p:txBody>
        </p:sp>
        <p:sp>
          <p:nvSpPr>
            <p:cNvPr id="22" name="TextBox 22"/>
            <p:cNvSpPr txBox="1"/>
            <p:nvPr/>
          </p:nvSpPr>
          <p:spPr>
            <a:xfrm>
              <a:off x="767776" y="47625"/>
              <a:ext cx="1349401" cy="457784"/>
            </a:xfrm>
            <a:prstGeom prst="rect">
              <a:avLst/>
            </a:prstGeom>
          </p:spPr>
          <p:txBody>
            <a:bodyPr lIns="0" tIns="0" rIns="0" bIns="0" rtlCol="0" anchor="t">
              <a:spAutoFit/>
            </a:bodyPr>
            <a:lstStyle/>
            <a:p>
              <a:pPr algn="ctr">
                <a:lnSpc>
                  <a:spcPts val="2548"/>
                </a:lnSpc>
              </a:pPr>
              <a:r>
                <a:rPr lang="en-US" sz="2548" b="1">
                  <a:solidFill>
                    <a:srgbClr val="2E7040"/>
                  </a:solidFill>
                  <a:latin typeface="Playfair Display Bold"/>
                  <a:ea typeface="Playfair Display Bold"/>
                  <a:cs typeface="Playfair Display Bold"/>
                  <a:sym typeface="Playfair Display Bold"/>
                </a:rPr>
                <a:t>Enjoy</a:t>
              </a:r>
            </a:p>
          </p:txBody>
        </p:sp>
        <p:sp>
          <p:nvSpPr>
            <p:cNvPr id="23" name="TextBox 23"/>
            <p:cNvSpPr txBox="1"/>
            <p:nvPr/>
          </p:nvSpPr>
          <p:spPr>
            <a:xfrm>
              <a:off x="0" y="3567405"/>
              <a:ext cx="2739720" cy="3191569"/>
            </a:xfrm>
            <a:prstGeom prst="rect">
              <a:avLst/>
            </a:prstGeom>
          </p:spPr>
          <p:txBody>
            <a:bodyPr lIns="0" tIns="0" rIns="0" bIns="0" rtlCol="0" anchor="t">
              <a:spAutoFit/>
            </a:bodyPr>
            <a:lstStyle/>
            <a:p>
              <a:pPr algn="ctr">
                <a:lnSpc>
                  <a:spcPts val="2379"/>
                </a:lnSpc>
              </a:pPr>
              <a:r>
                <a:rPr lang="en-US" sz="2379">
                  <a:solidFill>
                    <a:srgbClr val="000000"/>
                  </a:solidFill>
                  <a:latin typeface="Playfair Display"/>
                  <a:ea typeface="Playfair Display"/>
                  <a:cs typeface="Playfair Display"/>
                  <a:sym typeface="Playfair Display"/>
                </a:rPr>
                <a:t>AI Recipe Generator,  saves time, simplifies meal planning and decision making.</a:t>
              </a:r>
            </a:p>
            <a:p>
              <a:pPr algn="ctr">
                <a:lnSpc>
                  <a:spcPts val="2348"/>
                </a:lnSpc>
              </a:pPr>
              <a:endParaRPr lang="en-US" sz="2379">
                <a:solidFill>
                  <a:srgbClr val="000000"/>
                </a:solidFill>
                <a:latin typeface="Playfair Display"/>
                <a:ea typeface="Playfair Display"/>
                <a:cs typeface="Playfair Display"/>
                <a:sym typeface="Playfair Display"/>
              </a:endParaRPr>
            </a:p>
          </p:txBody>
        </p:sp>
      </p:grpSp>
      <p:sp>
        <p:nvSpPr>
          <p:cNvPr id="24" name="TextBox 24"/>
          <p:cNvSpPr txBox="1"/>
          <p:nvPr/>
        </p:nvSpPr>
        <p:spPr>
          <a:xfrm>
            <a:off x="750562" y="1562373"/>
            <a:ext cx="12608968"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Food Management App/Service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127913"/>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5" name="TextBox 5"/>
          <p:cNvSpPr txBox="1"/>
          <p:nvPr/>
        </p:nvSpPr>
        <p:spPr>
          <a:xfrm>
            <a:off x="3416031" y="84282"/>
            <a:ext cx="11131347" cy="826438"/>
          </a:xfrm>
          <a:prstGeom prst="rect">
            <a:avLst/>
          </a:prstGeom>
        </p:spPr>
        <p:txBody>
          <a:bodyPr lIns="0" tIns="0" rIns="0" bIns="0" rtlCol="0" anchor="t">
            <a:spAutoFit/>
          </a:bodyPr>
          <a:lstStyle/>
          <a:p>
            <a:pPr algn="ctr">
              <a:lnSpc>
                <a:spcPts val="6286"/>
              </a:lnSpc>
            </a:pPr>
            <a:r>
              <a:rPr lang="en-US" sz="6286" b="1">
                <a:solidFill>
                  <a:srgbClr val="2E7040"/>
                </a:solidFill>
                <a:latin typeface="Playfair Display Bold"/>
                <a:ea typeface="Playfair Display Bold"/>
                <a:cs typeface="Playfair Display Bold"/>
                <a:sym typeface="Playfair Display Bold"/>
              </a:rPr>
              <a:t>Our Competitive Advantage</a:t>
            </a:r>
          </a:p>
        </p:txBody>
      </p:sp>
      <p:sp>
        <p:nvSpPr>
          <p:cNvPr id="6" name="Freeform 6"/>
          <p:cNvSpPr/>
          <p:nvPr/>
        </p:nvSpPr>
        <p:spPr>
          <a:xfrm>
            <a:off x="14991158" y="3917962"/>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2293999" y="3917962"/>
            <a:ext cx="561087" cy="561087"/>
          </a:xfrm>
          <a:custGeom>
            <a:avLst/>
            <a:gdLst/>
            <a:ahLst/>
            <a:cxnLst/>
            <a:rect l="l" t="t" r="r" b="b"/>
            <a:pathLst>
              <a:path w="561087" h="561087">
                <a:moveTo>
                  <a:pt x="0" y="0"/>
                </a:moveTo>
                <a:lnTo>
                  <a:pt x="561087" y="0"/>
                </a:lnTo>
                <a:lnTo>
                  <a:pt x="561087" y="561087"/>
                </a:lnTo>
                <a:lnTo>
                  <a:pt x="0" y="5610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8863114">
            <a:off x="14736814" y="-118962"/>
            <a:ext cx="3080331" cy="4082366"/>
          </a:xfrm>
          <a:custGeom>
            <a:avLst/>
            <a:gdLst/>
            <a:ahLst/>
            <a:cxnLst/>
            <a:rect l="l" t="t" r="r" b="b"/>
            <a:pathLst>
              <a:path w="3080331" h="4082366">
                <a:moveTo>
                  <a:pt x="0" y="0"/>
                </a:moveTo>
                <a:lnTo>
                  <a:pt x="3080331" y="0"/>
                </a:lnTo>
                <a:lnTo>
                  <a:pt x="3080331" y="4082366"/>
                </a:lnTo>
                <a:lnTo>
                  <a:pt x="0" y="40823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rot="-1667020">
            <a:off x="-176198" y="4041779"/>
            <a:ext cx="4940395" cy="6011543"/>
          </a:xfrm>
          <a:custGeom>
            <a:avLst/>
            <a:gdLst/>
            <a:ahLst/>
            <a:cxnLst/>
            <a:rect l="l" t="t" r="r" b="b"/>
            <a:pathLst>
              <a:path w="4940395" h="6011543">
                <a:moveTo>
                  <a:pt x="0" y="0"/>
                </a:moveTo>
                <a:lnTo>
                  <a:pt x="4940395" y="0"/>
                </a:lnTo>
                <a:lnTo>
                  <a:pt x="4940395" y="6011543"/>
                </a:lnTo>
                <a:lnTo>
                  <a:pt x="0" y="60115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10246054" y="2782591"/>
            <a:ext cx="2924201" cy="6356958"/>
          </a:xfrm>
          <a:custGeom>
            <a:avLst/>
            <a:gdLst/>
            <a:ahLst/>
            <a:cxnLst/>
            <a:rect l="l" t="t" r="r" b="b"/>
            <a:pathLst>
              <a:path w="2924201" h="6356958">
                <a:moveTo>
                  <a:pt x="0" y="0"/>
                </a:moveTo>
                <a:lnTo>
                  <a:pt x="2924201" y="0"/>
                </a:lnTo>
                <a:lnTo>
                  <a:pt x="2924201" y="6356958"/>
                </a:lnTo>
                <a:lnTo>
                  <a:pt x="0" y="6356958"/>
                </a:lnTo>
                <a:lnTo>
                  <a:pt x="0" y="0"/>
                </a:lnTo>
                <a:close/>
              </a:path>
            </a:pathLst>
          </a:custGeom>
          <a:blipFill>
            <a:blip r:embed="rId7"/>
            <a:stretch>
              <a:fillRect/>
            </a:stretch>
          </a:blipFill>
          <a:ln w="38100" cap="rnd">
            <a:solidFill>
              <a:srgbClr val="000000"/>
            </a:solidFill>
            <a:prstDash val="solid"/>
            <a:round/>
          </a:ln>
        </p:spPr>
        <p:txBody>
          <a:bodyPr/>
          <a:lstStyle/>
          <a:p>
            <a:endParaRPr lang="en-US"/>
          </a:p>
        </p:txBody>
      </p:sp>
      <p:sp>
        <p:nvSpPr>
          <p:cNvPr id="11" name="Freeform 11"/>
          <p:cNvSpPr/>
          <p:nvPr/>
        </p:nvSpPr>
        <p:spPr>
          <a:xfrm>
            <a:off x="5500951" y="2782591"/>
            <a:ext cx="2924201" cy="6356958"/>
          </a:xfrm>
          <a:custGeom>
            <a:avLst/>
            <a:gdLst/>
            <a:ahLst/>
            <a:cxnLst/>
            <a:rect l="l" t="t" r="r" b="b"/>
            <a:pathLst>
              <a:path w="2924201" h="6356958">
                <a:moveTo>
                  <a:pt x="0" y="0"/>
                </a:moveTo>
                <a:lnTo>
                  <a:pt x="2924200" y="0"/>
                </a:lnTo>
                <a:lnTo>
                  <a:pt x="2924200" y="6356958"/>
                </a:lnTo>
                <a:lnTo>
                  <a:pt x="0" y="6356958"/>
                </a:lnTo>
                <a:lnTo>
                  <a:pt x="0" y="0"/>
                </a:lnTo>
                <a:close/>
              </a:path>
            </a:pathLst>
          </a:custGeom>
          <a:blipFill>
            <a:blip r:embed="rId8"/>
            <a:stretch>
              <a:fillRect/>
            </a:stretch>
          </a:blipFill>
          <a:ln w="38100" cap="rnd">
            <a:solidFill>
              <a:srgbClr val="000000"/>
            </a:solidFill>
            <a:prstDash val="solid"/>
            <a:round/>
          </a:ln>
        </p:spPr>
        <p:txBody>
          <a:bodyPr/>
          <a:lstStyle/>
          <a:p>
            <a:endParaRPr lang="en-US"/>
          </a:p>
        </p:txBody>
      </p:sp>
      <p:sp>
        <p:nvSpPr>
          <p:cNvPr id="12" name="Freeform 12"/>
          <p:cNvSpPr/>
          <p:nvPr/>
        </p:nvSpPr>
        <p:spPr>
          <a:xfrm>
            <a:off x="10834132" y="910720"/>
            <a:ext cx="1748046" cy="1748046"/>
          </a:xfrm>
          <a:custGeom>
            <a:avLst/>
            <a:gdLst/>
            <a:ahLst/>
            <a:cxnLst/>
            <a:rect l="l" t="t" r="r" b="b"/>
            <a:pathLst>
              <a:path w="1748046" h="1748046">
                <a:moveTo>
                  <a:pt x="0" y="0"/>
                </a:moveTo>
                <a:lnTo>
                  <a:pt x="1748046" y="0"/>
                </a:lnTo>
                <a:lnTo>
                  <a:pt x="1748046" y="1748046"/>
                </a:lnTo>
                <a:lnTo>
                  <a:pt x="0" y="1748046"/>
                </a:lnTo>
                <a:lnTo>
                  <a:pt x="0" y="0"/>
                </a:lnTo>
                <a:close/>
              </a:path>
            </a:pathLst>
          </a:custGeom>
          <a:blipFill>
            <a:blip r:embed="rId9"/>
            <a:stretch>
              <a:fillRect/>
            </a:stretch>
          </a:blipFill>
          <a:ln w="38100" cap="sq">
            <a:solidFill>
              <a:srgbClr val="000000"/>
            </a:solidFill>
            <a:prstDash val="solid"/>
            <a:miter/>
          </a:ln>
        </p:spPr>
        <p:txBody>
          <a:bodyPr/>
          <a:lstStyle/>
          <a:p>
            <a:endParaRPr lang="en-US"/>
          </a:p>
        </p:txBody>
      </p:sp>
      <p:sp>
        <p:nvSpPr>
          <p:cNvPr id="13" name="Freeform 13"/>
          <p:cNvSpPr/>
          <p:nvPr/>
        </p:nvSpPr>
        <p:spPr>
          <a:xfrm>
            <a:off x="6089028" y="910720"/>
            <a:ext cx="1748046" cy="1748046"/>
          </a:xfrm>
          <a:custGeom>
            <a:avLst/>
            <a:gdLst/>
            <a:ahLst/>
            <a:cxnLst/>
            <a:rect l="l" t="t" r="r" b="b"/>
            <a:pathLst>
              <a:path w="1748046" h="1748046">
                <a:moveTo>
                  <a:pt x="0" y="0"/>
                </a:moveTo>
                <a:lnTo>
                  <a:pt x="1748046" y="0"/>
                </a:lnTo>
                <a:lnTo>
                  <a:pt x="1748046" y="1748046"/>
                </a:lnTo>
                <a:lnTo>
                  <a:pt x="0" y="1748046"/>
                </a:lnTo>
                <a:lnTo>
                  <a:pt x="0" y="0"/>
                </a:lnTo>
                <a:close/>
              </a:path>
            </a:pathLst>
          </a:custGeom>
          <a:blipFill>
            <a:blip r:embed="rId10"/>
            <a:stretch>
              <a:fillRect/>
            </a:stretch>
          </a:blipFill>
          <a:ln w="38100" cap="sq">
            <a:solidFill>
              <a:srgbClr val="000000"/>
            </a:solidFill>
            <a:prstDash val="solid"/>
            <a:miter/>
          </a:ln>
        </p:spPr>
        <p:txBody>
          <a:bodyPr/>
          <a:lstStyle/>
          <a:p>
            <a:endParaRPr lang="en-US"/>
          </a:p>
        </p:txBody>
      </p:sp>
      <p:grpSp>
        <p:nvGrpSpPr>
          <p:cNvPr id="14" name="Group 14"/>
          <p:cNvGrpSpPr/>
          <p:nvPr/>
        </p:nvGrpSpPr>
        <p:grpSpPr>
          <a:xfrm>
            <a:off x="-1052258" y="9258300"/>
            <a:ext cx="20392515" cy="2919395"/>
            <a:chOff x="0" y="0"/>
            <a:chExt cx="5370868" cy="768894"/>
          </a:xfrm>
        </p:grpSpPr>
        <p:sp>
          <p:nvSpPr>
            <p:cNvPr id="15" name="Freeform 15"/>
            <p:cNvSpPr/>
            <p:nvPr/>
          </p:nvSpPr>
          <p:spPr>
            <a:xfrm>
              <a:off x="0" y="0"/>
              <a:ext cx="5370868" cy="768894"/>
            </a:xfrm>
            <a:custGeom>
              <a:avLst/>
              <a:gdLst/>
              <a:ahLst/>
              <a:cxnLst/>
              <a:rect l="l" t="t" r="r" b="b"/>
              <a:pathLst>
                <a:path w="5370868" h="768894">
                  <a:moveTo>
                    <a:pt x="0" y="0"/>
                  </a:moveTo>
                  <a:lnTo>
                    <a:pt x="5370868" y="0"/>
                  </a:lnTo>
                  <a:lnTo>
                    <a:pt x="5370868" y="768894"/>
                  </a:lnTo>
                  <a:lnTo>
                    <a:pt x="0" y="768894"/>
                  </a:lnTo>
                  <a:close/>
                </a:path>
              </a:pathLst>
            </a:custGeom>
            <a:solidFill>
              <a:srgbClr val="2E7040"/>
            </a:solidFill>
          </p:spPr>
          <p:txBody>
            <a:bodyPr/>
            <a:lstStyle/>
            <a:p>
              <a:endParaRPr lang="en-US"/>
            </a:p>
          </p:txBody>
        </p:sp>
        <p:sp>
          <p:nvSpPr>
            <p:cNvPr id="16" name="TextBox 16"/>
            <p:cNvSpPr txBox="1"/>
            <p:nvPr/>
          </p:nvSpPr>
          <p:spPr>
            <a:xfrm>
              <a:off x="0" y="-38100"/>
              <a:ext cx="5370868" cy="806994"/>
            </a:xfrm>
            <a:prstGeom prst="rect">
              <a:avLst/>
            </a:prstGeom>
          </p:spPr>
          <p:txBody>
            <a:bodyPr lIns="50800" tIns="50800" rIns="50800" bIns="50800" rtlCol="0" anchor="ctr"/>
            <a:lstStyle/>
            <a:p>
              <a:pPr algn="ctr">
                <a:lnSpc>
                  <a:spcPts val="2552"/>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12637371" y="2536373"/>
            <a:ext cx="11301259" cy="4958427"/>
          </a:xfrm>
          <a:custGeom>
            <a:avLst/>
            <a:gdLst/>
            <a:ahLst/>
            <a:cxnLst/>
            <a:rect l="l" t="t" r="r" b="b"/>
            <a:pathLst>
              <a:path w="11301259" h="4958427">
                <a:moveTo>
                  <a:pt x="0" y="0"/>
                </a:moveTo>
                <a:lnTo>
                  <a:pt x="11301258" y="0"/>
                </a:lnTo>
                <a:lnTo>
                  <a:pt x="11301258" y="4958427"/>
                </a:lnTo>
                <a:lnTo>
                  <a:pt x="0" y="4958427"/>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33758" y="478731"/>
            <a:ext cx="9720153"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Value Proposition</a:t>
            </a:r>
          </a:p>
        </p:txBody>
      </p:sp>
      <p:grpSp>
        <p:nvGrpSpPr>
          <p:cNvPr id="10" name="Group 10"/>
          <p:cNvGrpSpPr/>
          <p:nvPr/>
        </p:nvGrpSpPr>
        <p:grpSpPr>
          <a:xfrm>
            <a:off x="2623428" y="1951376"/>
            <a:ext cx="6520572" cy="6867723"/>
            <a:chOff x="0" y="0"/>
            <a:chExt cx="8694096" cy="9156964"/>
          </a:xfrm>
        </p:grpSpPr>
        <p:sp>
          <p:nvSpPr>
            <p:cNvPr id="11" name="Freeform 11"/>
            <p:cNvSpPr/>
            <p:nvPr/>
          </p:nvSpPr>
          <p:spPr>
            <a:xfrm>
              <a:off x="0" y="0"/>
              <a:ext cx="8694096" cy="3088067"/>
            </a:xfrm>
            <a:custGeom>
              <a:avLst/>
              <a:gdLst/>
              <a:ahLst/>
              <a:cxnLst/>
              <a:rect l="l" t="t" r="r" b="b"/>
              <a:pathLst>
                <a:path w="8694096" h="3088067">
                  <a:moveTo>
                    <a:pt x="0" y="0"/>
                  </a:moveTo>
                  <a:lnTo>
                    <a:pt x="8694096" y="0"/>
                  </a:lnTo>
                  <a:lnTo>
                    <a:pt x="8694096" y="3088067"/>
                  </a:lnTo>
                  <a:lnTo>
                    <a:pt x="0" y="3088067"/>
                  </a:lnTo>
                  <a:lnTo>
                    <a:pt x="0" y="0"/>
                  </a:lnTo>
                  <a:close/>
                </a:path>
              </a:pathLst>
            </a:custGeom>
            <a:blipFill>
              <a:blip r:embed="rId5"/>
              <a:stretch>
                <a:fillRect/>
              </a:stretch>
            </a:blipFill>
          </p:spPr>
          <p:txBody>
            <a:bodyPr/>
            <a:lstStyle/>
            <a:p>
              <a:endParaRPr lang="en-US"/>
            </a:p>
          </p:txBody>
        </p:sp>
        <p:sp>
          <p:nvSpPr>
            <p:cNvPr id="12" name="TextBox 12"/>
            <p:cNvSpPr txBox="1"/>
            <p:nvPr/>
          </p:nvSpPr>
          <p:spPr>
            <a:xfrm>
              <a:off x="638947" y="146628"/>
              <a:ext cx="2602004" cy="457784"/>
            </a:xfrm>
            <a:prstGeom prst="rect">
              <a:avLst/>
            </a:prstGeom>
          </p:spPr>
          <p:txBody>
            <a:bodyPr lIns="0" tIns="0" rIns="0" bIns="0" rtlCol="0" anchor="t">
              <a:spAutoFit/>
            </a:bodyPr>
            <a:lstStyle/>
            <a:p>
              <a:pPr algn="l">
                <a:lnSpc>
                  <a:spcPts val="2548"/>
                </a:lnSpc>
              </a:pPr>
              <a:r>
                <a:rPr lang="en-US" sz="2548" b="1">
                  <a:solidFill>
                    <a:srgbClr val="2E7040"/>
                  </a:solidFill>
                  <a:latin typeface="Playfair Display Bold"/>
                  <a:ea typeface="Playfair Display Bold"/>
                  <a:cs typeface="Playfair Display Bold"/>
                  <a:sym typeface="Playfair Display Bold"/>
                </a:rPr>
                <a:t>Convenience</a:t>
              </a:r>
            </a:p>
          </p:txBody>
        </p:sp>
        <p:sp>
          <p:nvSpPr>
            <p:cNvPr id="13" name="TextBox 13"/>
            <p:cNvSpPr txBox="1"/>
            <p:nvPr/>
          </p:nvSpPr>
          <p:spPr>
            <a:xfrm>
              <a:off x="1116963" y="789862"/>
              <a:ext cx="7063479" cy="1479768"/>
            </a:xfrm>
            <a:prstGeom prst="rect">
              <a:avLst/>
            </a:prstGeom>
          </p:spPr>
          <p:txBody>
            <a:bodyPr lIns="0" tIns="0" rIns="0" bIns="0" rtlCol="0" anchor="t">
              <a:spAutoFit/>
            </a:bodyPr>
            <a:lstStyle/>
            <a:p>
              <a:pPr algn="just">
                <a:lnSpc>
                  <a:spcPts val="2937"/>
                </a:lnSpc>
              </a:pPr>
              <a:r>
                <a:rPr lang="en-US" sz="2277">
                  <a:solidFill>
                    <a:srgbClr val="000000"/>
                  </a:solidFill>
                  <a:latin typeface="Playfair Display"/>
                  <a:ea typeface="Playfair Display"/>
                  <a:cs typeface="Playfair Display"/>
                  <a:sym typeface="Playfair Display"/>
                </a:rPr>
                <a:t>-Ease-of-use features (QR, OCR)</a:t>
              </a:r>
            </a:p>
            <a:p>
              <a:pPr algn="just">
                <a:lnSpc>
                  <a:spcPts val="2937"/>
                </a:lnSpc>
              </a:pPr>
              <a:r>
                <a:rPr lang="en-US" sz="2277">
                  <a:solidFill>
                    <a:srgbClr val="000000"/>
                  </a:solidFill>
                  <a:latin typeface="Playfair Display"/>
                  <a:ea typeface="Playfair Display"/>
                  <a:cs typeface="Playfair Display"/>
                  <a:sym typeface="Playfair Display"/>
                </a:rPr>
                <a:t>-We keep eyes on your products</a:t>
              </a:r>
            </a:p>
            <a:p>
              <a:pPr algn="just">
                <a:lnSpc>
                  <a:spcPts val="2937"/>
                </a:lnSpc>
              </a:pPr>
              <a:r>
                <a:rPr lang="en-US" sz="2277">
                  <a:solidFill>
                    <a:srgbClr val="000000"/>
                  </a:solidFill>
                  <a:latin typeface="Playfair Display"/>
                  <a:ea typeface="Playfair Display"/>
                  <a:cs typeface="Playfair Display"/>
                  <a:sym typeface="Playfair Display"/>
                </a:rPr>
                <a:t>-Gives a reminder when food spoils</a:t>
              </a:r>
            </a:p>
          </p:txBody>
        </p:sp>
        <p:sp>
          <p:nvSpPr>
            <p:cNvPr id="14" name="Freeform 14"/>
            <p:cNvSpPr/>
            <p:nvPr/>
          </p:nvSpPr>
          <p:spPr>
            <a:xfrm>
              <a:off x="0" y="3037267"/>
              <a:ext cx="8694096" cy="3088067"/>
            </a:xfrm>
            <a:custGeom>
              <a:avLst/>
              <a:gdLst/>
              <a:ahLst/>
              <a:cxnLst/>
              <a:rect l="l" t="t" r="r" b="b"/>
              <a:pathLst>
                <a:path w="8694096" h="3088067">
                  <a:moveTo>
                    <a:pt x="0" y="0"/>
                  </a:moveTo>
                  <a:lnTo>
                    <a:pt x="8694096" y="0"/>
                  </a:lnTo>
                  <a:lnTo>
                    <a:pt x="8694096" y="3088067"/>
                  </a:lnTo>
                  <a:lnTo>
                    <a:pt x="0" y="3088067"/>
                  </a:lnTo>
                  <a:lnTo>
                    <a:pt x="0" y="0"/>
                  </a:lnTo>
                  <a:close/>
                </a:path>
              </a:pathLst>
            </a:custGeom>
            <a:blipFill>
              <a:blip r:embed="rId5"/>
              <a:stretch>
                <a:fillRect/>
              </a:stretch>
            </a:blipFill>
          </p:spPr>
          <p:txBody>
            <a:bodyPr/>
            <a:lstStyle/>
            <a:p>
              <a:endParaRPr lang="en-US"/>
            </a:p>
          </p:txBody>
        </p:sp>
        <p:sp>
          <p:nvSpPr>
            <p:cNvPr id="15" name="TextBox 15"/>
            <p:cNvSpPr txBox="1"/>
            <p:nvPr/>
          </p:nvSpPr>
          <p:spPr>
            <a:xfrm>
              <a:off x="638947" y="3183895"/>
              <a:ext cx="2602004" cy="457784"/>
            </a:xfrm>
            <a:prstGeom prst="rect">
              <a:avLst/>
            </a:prstGeom>
          </p:spPr>
          <p:txBody>
            <a:bodyPr lIns="0" tIns="0" rIns="0" bIns="0" rtlCol="0" anchor="t">
              <a:spAutoFit/>
            </a:bodyPr>
            <a:lstStyle/>
            <a:p>
              <a:pPr algn="l">
                <a:lnSpc>
                  <a:spcPts val="2548"/>
                </a:lnSpc>
              </a:pPr>
              <a:r>
                <a:rPr lang="en-US" sz="2548" b="1">
                  <a:solidFill>
                    <a:srgbClr val="2E7040"/>
                  </a:solidFill>
                  <a:latin typeface="Playfair Display Bold"/>
                  <a:ea typeface="Playfair Display Bold"/>
                  <a:cs typeface="Playfair Display Bold"/>
                  <a:sym typeface="Playfair Display Bold"/>
                </a:rPr>
                <a:t>Accuracy</a:t>
              </a:r>
            </a:p>
          </p:txBody>
        </p:sp>
        <p:sp>
          <p:nvSpPr>
            <p:cNvPr id="16" name="TextBox 16"/>
            <p:cNvSpPr txBox="1"/>
            <p:nvPr/>
          </p:nvSpPr>
          <p:spPr>
            <a:xfrm>
              <a:off x="1116963" y="3827129"/>
              <a:ext cx="7063479" cy="1479768"/>
            </a:xfrm>
            <a:prstGeom prst="rect">
              <a:avLst/>
            </a:prstGeom>
          </p:spPr>
          <p:txBody>
            <a:bodyPr lIns="0" tIns="0" rIns="0" bIns="0" rtlCol="0" anchor="t">
              <a:spAutoFit/>
            </a:bodyPr>
            <a:lstStyle/>
            <a:p>
              <a:pPr algn="just">
                <a:lnSpc>
                  <a:spcPts val="2937"/>
                </a:lnSpc>
              </a:pPr>
              <a:r>
                <a:rPr lang="en-US" sz="2277">
                  <a:solidFill>
                    <a:srgbClr val="000000"/>
                  </a:solidFill>
                  <a:latin typeface="Playfair Display"/>
                  <a:ea typeface="Playfair Display"/>
                  <a:cs typeface="Playfair Display"/>
                  <a:sym typeface="Playfair Display"/>
                </a:rPr>
                <a:t>-Food API database</a:t>
              </a:r>
            </a:p>
            <a:p>
              <a:pPr algn="just">
                <a:lnSpc>
                  <a:spcPts val="2937"/>
                </a:lnSpc>
              </a:pPr>
              <a:r>
                <a:rPr lang="en-US" sz="2277">
                  <a:solidFill>
                    <a:srgbClr val="000000"/>
                  </a:solidFill>
                  <a:latin typeface="Playfair Display"/>
                  <a:ea typeface="Playfair Display"/>
                  <a:cs typeface="Playfair Display"/>
                  <a:sym typeface="Playfair Display"/>
                </a:rPr>
                <a:t>-Nutritional info</a:t>
              </a:r>
            </a:p>
            <a:p>
              <a:pPr algn="just">
                <a:lnSpc>
                  <a:spcPts val="2937"/>
                </a:lnSpc>
              </a:pPr>
              <a:r>
                <a:rPr lang="en-US" sz="2277">
                  <a:solidFill>
                    <a:srgbClr val="000000"/>
                  </a:solidFill>
                  <a:latin typeface="Playfair Display"/>
                  <a:ea typeface="Playfair Display"/>
                  <a:cs typeface="Playfair Display"/>
                  <a:sym typeface="Playfair Display"/>
                </a:rPr>
                <a:t>-Expiry dates</a:t>
              </a:r>
            </a:p>
          </p:txBody>
        </p:sp>
        <p:sp>
          <p:nvSpPr>
            <p:cNvPr id="17" name="Freeform 17"/>
            <p:cNvSpPr/>
            <p:nvPr/>
          </p:nvSpPr>
          <p:spPr>
            <a:xfrm>
              <a:off x="0" y="6068897"/>
              <a:ext cx="8694096" cy="3088067"/>
            </a:xfrm>
            <a:custGeom>
              <a:avLst/>
              <a:gdLst/>
              <a:ahLst/>
              <a:cxnLst/>
              <a:rect l="l" t="t" r="r" b="b"/>
              <a:pathLst>
                <a:path w="8694096" h="3088067">
                  <a:moveTo>
                    <a:pt x="0" y="0"/>
                  </a:moveTo>
                  <a:lnTo>
                    <a:pt x="8694096" y="0"/>
                  </a:lnTo>
                  <a:lnTo>
                    <a:pt x="8694096" y="3088067"/>
                  </a:lnTo>
                  <a:lnTo>
                    <a:pt x="0" y="3088067"/>
                  </a:lnTo>
                  <a:lnTo>
                    <a:pt x="0" y="0"/>
                  </a:lnTo>
                  <a:close/>
                </a:path>
              </a:pathLst>
            </a:custGeom>
            <a:blipFill>
              <a:blip r:embed="rId5"/>
              <a:stretch>
                <a:fillRect/>
              </a:stretch>
            </a:blipFill>
          </p:spPr>
          <p:txBody>
            <a:bodyPr/>
            <a:lstStyle/>
            <a:p>
              <a:endParaRPr lang="en-US"/>
            </a:p>
          </p:txBody>
        </p:sp>
        <p:sp>
          <p:nvSpPr>
            <p:cNvPr id="18" name="TextBox 18"/>
            <p:cNvSpPr txBox="1"/>
            <p:nvPr/>
          </p:nvSpPr>
          <p:spPr>
            <a:xfrm>
              <a:off x="638947" y="6215525"/>
              <a:ext cx="2602004" cy="457784"/>
            </a:xfrm>
            <a:prstGeom prst="rect">
              <a:avLst/>
            </a:prstGeom>
          </p:spPr>
          <p:txBody>
            <a:bodyPr lIns="0" tIns="0" rIns="0" bIns="0" rtlCol="0" anchor="t">
              <a:spAutoFit/>
            </a:bodyPr>
            <a:lstStyle/>
            <a:p>
              <a:pPr algn="l">
                <a:lnSpc>
                  <a:spcPts val="2548"/>
                </a:lnSpc>
              </a:pPr>
              <a:r>
                <a:rPr lang="en-US" sz="2548" b="1">
                  <a:solidFill>
                    <a:srgbClr val="2E7040"/>
                  </a:solidFill>
                  <a:latin typeface="Playfair Display Bold"/>
                  <a:ea typeface="Playfair Display Bold"/>
                  <a:cs typeface="Playfair Display Bold"/>
                  <a:sym typeface="Playfair Display Bold"/>
                </a:rPr>
                <a:t>Specification</a:t>
              </a:r>
            </a:p>
          </p:txBody>
        </p:sp>
        <p:sp>
          <p:nvSpPr>
            <p:cNvPr id="19" name="TextBox 19"/>
            <p:cNvSpPr txBox="1"/>
            <p:nvPr/>
          </p:nvSpPr>
          <p:spPr>
            <a:xfrm>
              <a:off x="1116963" y="6695535"/>
              <a:ext cx="6625069" cy="1975068"/>
            </a:xfrm>
            <a:prstGeom prst="rect">
              <a:avLst/>
            </a:prstGeom>
          </p:spPr>
          <p:txBody>
            <a:bodyPr lIns="0" tIns="0" rIns="0" bIns="0" rtlCol="0" anchor="t">
              <a:spAutoFit/>
            </a:bodyPr>
            <a:lstStyle/>
            <a:p>
              <a:pPr algn="just">
                <a:lnSpc>
                  <a:spcPts val="2937"/>
                </a:lnSpc>
              </a:pPr>
              <a:r>
                <a:rPr lang="en-US" sz="2277">
                  <a:solidFill>
                    <a:srgbClr val="000000"/>
                  </a:solidFill>
                  <a:latin typeface="Playfair Display"/>
                  <a:ea typeface="Playfair Display"/>
                  <a:cs typeface="Playfair Display"/>
                  <a:sym typeface="Playfair Display"/>
                </a:rPr>
                <a:t>-Suit dietary restrictions/medical conditions</a:t>
              </a:r>
            </a:p>
            <a:p>
              <a:pPr algn="just">
                <a:lnSpc>
                  <a:spcPts val="2937"/>
                </a:lnSpc>
              </a:pPr>
              <a:r>
                <a:rPr lang="en-US" sz="2277">
                  <a:solidFill>
                    <a:srgbClr val="000000"/>
                  </a:solidFill>
                  <a:latin typeface="Playfair Display"/>
                  <a:ea typeface="Playfair Display"/>
                  <a:cs typeface="Playfair Display"/>
                  <a:sym typeface="Playfair Display"/>
                </a:rPr>
                <a:t>-Recommends meal plans toward personal goals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1528912" y="1678881"/>
            <a:ext cx="14576557" cy="8290417"/>
          </a:xfrm>
          <a:custGeom>
            <a:avLst/>
            <a:gdLst/>
            <a:ahLst/>
            <a:cxnLst/>
            <a:rect l="l" t="t" r="r" b="b"/>
            <a:pathLst>
              <a:path w="14576557" h="8290417">
                <a:moveTo>
                  <a:pt x="0" y="0"/>
                </a:moveTo>
                <a:lnTo>
                  <a:pt x="14576556" y="0"/>
                </a:lnTo>
                <a:lnTo>
                  <a:pt x="14576556" y="8290416"/>
                </a:lnTo>
                <a:lnTo>
                  <a:pt x="0" y="8290416"/>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33758" y="478731"/>
            <a:ext cx="10471715"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Demography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1110207" y="2162448"/>
            <a:ext cx="16067587" cy="6929147"/>
          </a:xfrm>
          <a:custGeom>
            <a:avLst/>
            <a:gdLst/>
            <a:ahLst/>
            <a:cxnLst/>
            <a:rect l="l" t="t" r="r" b="b"/>
            <a:pathLst>
              <a:path w="16067587" h="6929147">
                <a:moveTo>
                  <a:pt x="0" y="0"/>
                </a:moveTo>
                <a:lnTo>
                  <a:pt x="16067586" y="0"/>
                </a:lnTo>
                <a:lnTo>
                  <a:pt x="16067586" y="6929147"/>
                </a:lnTo>
                <a:lnTo>
                  <a:pt x="0" y="6929147"/>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33758" y="478731"/>
            <a:ext cx="12608968"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Customer Relationship</a:t>
            </a:r>
          </a:p>
        </p:txBody>
      </p:sp>
      <p:sp>
        <p:nvSpPr>
          <p:cNvPr id="10" name="TextBox 10"/>
          <p:cNvSpPr txBox="1"/>
          <p:nvPr/>
        </p:nvSpPr>
        <p:spPr>
          <a:xfrm>
            <a:off x="750562" y="1562373"/>
            <a:ext cx="12608968"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Aquisition &amp; Retention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grpSp>
        <p:nvGrpSpPr>
          <p:cNvPr id="8" name="Group 8"/>
          <p:cNvGrpSpPr/>
          <p:nvPr/>
        </p:nvGrpSpPr>
        <p:grpSpPr>
          <a:xfrm>
            <a:off x="3265672" y="2240459"/>
            <a:ext cx="3671686" cy="6654861"/>
            <a:chOff x="0" y="0"/>
            <a:chExt cx="4895581" cy="8873148"/>
          </a:xfrm>
        </p:grpSpPr>
        <p:grpSp>
          <p:nvGrpSpPr>
            <p:cNvPr id="9" name="Group 9"/>
            <p:cNvGrpSpPr/>
            <p:nvPr/>
          </p:nvGrpSpPr>
          <p:grpSpPr>
            <a:xfrm>
              <a:off x="0" y="153076"/>
              <a:ext cx="4895581" cy="8385402"/>
              <a:chOff x="0" y="0"/>
              <a:chExt cx="1329581" cy="2277374"/>
            </a:xfrm>
          </p:grpSpPr>
          <p:sp>
            <p:nvSpPr>
              <p:cNvPr id="10" name="Freeform 10"/>
              <p:cNvSpPr/>
              <p:nvPr/>
            </p:nvSpPr>
            <p:spPr>
              <a:xfrm>
                <a:off x="0" y="0"/>
                <a:ext cx="1329581" cy="2277374"/>
              </a:xfrm>
              <a:custGeom>
                <a:avLst/>
                <a:gdLst/>
                <a:ahLst/>
                <a:cxnLst/>
                <a:rect l="l" t="t" r="r" b="b"/>
                <a:pathLst>
                  <a:path w="1329581" h="2277374">
                    <a:moveTo>
                      <a:pt x="73799" y="0"/>
                    </a:moveTo>
                    <a:lnTo>
                      <a:pt x="1255781" y="0"/>
                    </a:lnTo>
                    <a:cubicBezTo>
                      <a:pt x="1296540" y="0"/>
                      <a:pt x="1329581" y="33041"/>
                      <a:pt x="1329581" y="73799"/>
                    </a:cubicBezTo>
                    <a:lnTo>
                      <a:pt x="1329581" y="2203575"/>
                    </a:lnTo>
                    <a:cubicBezTo>
                      <a:pt x="1329581" y="2244333"/>
                      <a:pt x="1296540" y="2277374"/>
                      <a:pt x="1255781" y="2277374"/>
                    </a:cubicBezTo>
                    <a:lnTo>
                      <a:pt x="73799" y="2277374"/>
                    </a:lnTo>
                    <a:cubicBezTo>
                      <a:pt x="33041" y="2277374"/>
                      <a:pt x="0" y="2244333"/>
                      <a:pt x="0" y="2203575"/>
                    </a:cubicBezTo>
                    <a:lnTo>
                      <a:pt x="0" y="73799"/>
                    </a:lnTo>
                    <a:cubicBezTo>
                      <a:pt x="0" y="33041"/>
                      <a:pt x="33041" y="0"/>
                      <a:pt x="73799" y="0"/>
                    </a:cubicBezTo>
                    <a:close/>
                  </a:path>
                </a:pathLst>
              </a:custGeom>
              <a:solidFill>
                <a:srgbClr val="A3A3A3"/>
              </a:solidFill>
            </p:spPr>
            <p:txBody>
              <a:bodyPr/>
              <a:lstStyle/>
              <a:p>
                <a:endParaRPr lang="en-US"/>
              </a:p>
            </p:txBody>
          </p:sp>
          <p:sp>
            <p:nvSpPr>
              <p:cNvPr id="11" name="TextBox 11"/>
              <p:cNvSpPr txBox="1"/>
              <p:nvPr/>
            </p:nvSpPr>
            <p:spPr>
              <a:xfrm>
                <a:off x="0" y="-38100"/>
                <a:ext cx="1329581" cy="2315474"/>
              </a:xfrm>
              <a:prstGeom prst="rect">
                <a:avLst/>
              </a:prstGeom>
            </p:spPr>
            <p:txBody>
              <a:bodyPr lIns="46305" tIns="46305" rIns="46305" bIns="46305" rtlCol="0" anchor="ctr"/>
              <a:lstStyle/>
              <a:p>
                <a:pPr algn="ctr">
                  <a:lnSpc>
                    <a:spcPts val="2659"/>
                  </a:lnSpc>
                  <a:spcBef>
                    <a:spcPct val="0"/>
                  </a:spcBef>
                </a:pPr>
                <a:endParaRPr/>
              </a:p>
            </p:txBody>
          </p:sp>
        </p:grpSp>
        <p:grpSp>
          <p:nvGrpSpPr>
            <p:cNvPr id="12" name="Group 12"/>
            <p:cNvGrpSpPr/>
            <p:nvPr/>
          </p:nvGrpSpPr>
          <p:grpSpPr>
            <a:xfrm>
              <a:off x="0" y="0"/>
              <a:ext cx="4750465" cy="8538478"/>
              <a:chOff x="0" y="0"/>
              <a:chExt cx="1290169" cy="2318947"/>
            </a:xfrm>
          </p:grpSpPr>
          <p:sp>
            <p:nvSpPr>
              <p:cNvPr id="13" name="Freeform 13"/>
              <p:cNvSpPr/>
              <p:nvPr/>
            </p:nvSpPr>
            <p:spPr>
              <a:xfrm>
                <a:off x="0" y="0"/>
                <a:ext cx="1290169" cy="2318947"/>
              </a:xfrm>
              <a:custGeom>
                <a:avLst/>
                <a:gdLst/>
                <a:ahLst/>
                <a:cxnLst/>
                <a:rect l="l" t="t" r="r" b="b"/>
                <a:pathLst>
                  <a:path w="1290169" h="2318947">
                    <a:moveTo>
                      <a:pt x="76054" y="0"/>
                    </a:moveTo>
                    <a:lnTo>
                      <a:pt x="1214115" y="0"/>
                    </a:lnTo>
                    <a:cubicBezTo>
                      <a:pt x="1234286" y="0"/>
                      <a:pt x="1253630" y="8013"/>
                      <a:pt x="1267893" y="22276"/>
                    </a:cubicBezTo>
                    <a:cubicBezTo>
                      <a:pt x="1282156" y="36538"/>
                      <a:pt x="1290169" y="55883"/>
                      <a:pt x="1290169" y="76054"/>
                    </a:cubicBezTo>
                    <a:lnTo>
                      <a:pt x="1290169" y="2242894"/>
                    </a:lnTo>
                    <a:cubicBezTo>
                      <a:pt x="1290169" y="2284897"/>
                      <a:pt x="1256118" y="2318947"/>
                      <a:pt x="1214115" y="2318947"/>
                    </a:cubicBezTo>
                    <a:lnTo>
                      <a:pt x="76054" y="2318947"/>
                    </a:lnTo>
                    <a:cubicBezTo>
                      <a:pt x="34050" y="2318947"/>
                      <a:pt x="0" y="2284897"/>
                      <a:pt x="0" y="2242894"/>
                    </a:cubicBezTo>
                    <a:lnTo>
                      <a:pt x="0" y="76054"/>
                    </a:lnTo>
                    <a:cubicBezTo>
                      <a:pt x="0" y="34050"/>
                      <a:pt x="34050" y="0"/>
                      <a:pt x="76054" y="0"/>
                    </a:cubicBezTo>
                    <a:close/>
                  </a:path>
                </a:pathLst>
              </a:custGeom>
              <a:solidFill>
                <a:srgbClr val="FEF5DB"/>
              </a:solidFill>
            </p:spPr>
            <p:txBody>
              <a:bodyPr/>
              <a:lstStyle/>
              <a:p>
                <a:endParaRPr lang="en-US"/>
              </a:p>
            </p:txBody>
          </p:sp>
          <p:sp>
            <p:nvSpPr>
              <p:cNvPr id="14" name="TextBox 14"/>
              <p:cNvSpPr txBox="1"/>
              <p:nvPr/>
            </p:nvSpPr>
            <p:spPr>
              <a:xfrm>
                <a:off x="0" y="-38100"/>
                <a:ext cx="1290169" cy="2357047"/>
              </a:xfrm>
              <a:prstGeom prst="rect">
                <a:avLst/>
              </a:prstGeom>
            </p:spPr>
            <p:txBody>
              <a:bodyPr lIns="46305" tIns="46305" rIns="46305" bIns="46305" rtlCol="0" anchor="ctr"/>
              <a:lstStyle/>
              <a:p>
                <a:pPr algn="ctr">
                  <a:lnSpc>
                    <a:spcPts val="2659"/>
                  </a:lnSpc>
                  <a:spcBef>
                    <a:spcPct val="0"/>
                  </a:spcBef>
                </a:pPr>
                <a:endParaRPr/>
              </a:p>
            </p:txBody>
          </p:sp>
        </p:grpSp>
        <p:sp>
          <p:nvSpPr>
            <p:cNvPr id="15" name="Freeform 15"/>
            <p:cNvSpPr/>
            <p:nvPr/>
          </p:nvSpPr>
          <p:spPr>
            <a:xfrm>
              <a:off x="462125" y="0"/>
              <a:ext cx="3826214" cy="983055"/>
            </a:xfrm>
            <a:custGeom>
              <a:avLst/>
              <a:gdLst/>
              <a:ahLst/>
              <a:cxnLst/>
              <a:rect l="l" t="t" r="r" b="b"/>
              <a:pathLst>
                <a:path w="3826214" h="983055">
                  <a:moveTo>
                    <a:pt x="0" y="0"/>
                  </a:moveTo>
                  <a:lnTo>
                    <a:pt x="3826214" y="0"/>
                  </a:lnTo>
                  <a:lnTo>
                    <a:pt x="3826214" y="983055"/>
                  </a:lnTo>
                  <a:lnTo>
                    <a:pt x="0" y="983055"/>
                  </a:lnTo>
                  <a:lnTo>
                    <a:pt x="0" y="0"/>
                  </a:lnTo>
                  <a:close/>
                </a:path>
              </a:pathLst>
            </a:custGeom>
            <a:blipFill>
              <a:blip r:embed="rId3"/>
              <a:stretch>
                <a:fillRect r="-51833" b="-692824"/>
              </a:stretch>
            </a:blipFill>
          </p:spPr>
          <p:txBody>
            <a:bodyPr/>
            <a:lstStyle/>
            <a:p>
              <a:endParaRPr lang="en-US"/>
            </a:p>
          </p:txBody>
        </p:sp>
        <p:sp>
          <p:nvSpPr>
            <p:cNvPr id="16" name="TextBox 16"/>
            <p:cNvSpPr txBox="1"/>
            <p:nvPr/>
          </p:nvSpPr>
          <p:spPr>
            <a:xfrm>
              <a:off x="231063" y="954480"/>
              <a:ext cx="4664518" cy="7918668"/>
            </a:xfrm>
            <a:prstGeom prst="rect">
              <a:avLst/>
            </a:prstGeom>
          </p:spPr>
          <p:txBody>
            <a:bodyPr lIns="0" tIns="0" rIns="0" bIns="0" rtlCol="0" anchor="t">
              <a:spAutoFit/>
            </a:bodyPr>
            <a:lstStyle/>
            <a:p>
              <a:pPr algn="l">
                <a:lnSpc>
                  <a:spcPts val="2937"/>
                </a:lnSpc>
              </a:pPr>
              <a:r>
                <a:rPr lang="en-US" sz="2277">
                  <a:solidFill>
                    <a:srgbClr val="000000"/>
                  </a:solidFill>
                  <a:latin typeface="Playfair Display"/>
                  <a:ea typeface="Playfair Display"/>
                  <a:cs typeface="Playfair Display"/>
                  <a:sym typeface="Playfair Display"/>
                </a:rPr>
                <a:t>- Marketing Platforms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Content Creators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Supermarkets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Delivery Services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Application Developers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Cloud Services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App Stores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Banking Institutions</a:t>
              </a:r>
            </a:p>
            <a:p>
              <a:pPr algn="l">
                <a:lnSpc>
                  <a:spcPts val="2937"/>
                </a:lnSpc>
              </a:pPr>
              <a:endParaRPr lang="en-US" sz="2277">
                <a:solidFill>
                  <a:srgbClr val="000000"/>
                </a:solidFill>
                <a:latin typeface="Playfair Display"/>
                <a:ea typeface="Playfair Display"/>
                <a:cs typeface="Playfair Display"/>
                <a:sym typeface="Playfair Display"/>
              </a:endParaRPr>
            </a:p>
          </p:txBody>
        </p:sp>
      </p:grpSp>
      <p:grpSp>
        <p:nvGrpSpPr>
          <p:cNvPr id="17" name="Group 17"/>
          <p:cNvGrpSpPr/>
          <p:nvPr/>
        </p:nvGrpSpPr>
        <p:grpSpPr>
          <a:xfrm>
            <a:off x="7307481" y="2240459"/>
            <a:ext cx="3671686" cy="6403858"/>
            <a:chOff x="0" y="0"/>
            <a:chExt cx="4895581" cy="8538478"/>
          </a:xfrm>
        </p:grpSpPr>
        <p:grpSp>
          <p:nvGrpSpPr>
            <p:cNvPr id="18" name="Group 18"/>
            <p:cNvGrpSpPr/>
            <p:nvPr/>
          </p:nvGrpSpPr>
          <p:grpSpPr>
            <a:xfrm>
              <a:off x="0" y="153076"/>
              <a:ext cx="4895581" cy="8385402"/>
              <a:chOff x="0" y="0"/>
              <a:chExt cx="1329581" cy="2277374"/>
            </a:xfrm>
          </p:grpSpPr>
          <p:sp>
            <p:nvSpPr>
              <p:cNvPr id="19" name="Freeform 19"/>
              <p:cNvSpPr/>
              <p:nvPr/>
            </p:nvSpPr>
            <p:spPr>
              <a:xfrm>
                <a:off x="0" y="0"/>
                <a:ext cx="1329581" cy="2277374"/>
              </a:xfrm>
              <a:custGeom>
                <a:avLst/>
                <a:gdLst/>
                <a:ahLst/>
                <a:cxnLst/>
                <a:rect l="l" t="t" r="r" b="b"/>
                <a:pathLst>
                  <a:path w="1329581" h="2277374">
                    <a:moveTo>
                      <a:pt x="73799" y="0"/>
                    </a:moveTo>
                    <a:lnTo>
                      <a:pt x="1255781" y="0"/>
                    </a:lnTo>
                    <a:cubicBezTo>
                      <a:pt x="1296540" y="0"/>
                      <a:pt x="1329581" y="33041"/>
                      <a:pt x="1329581" y="73799"/>
                    </a:cubicBezTo>
                    <a:lnTo>
                      <a:pt x="1329581" y="2203575"/>
                    </a:lnTo>
                    <a:cubicBezTo>
                      <a:pt x="1329581" y="2244333"/>
                      <a:pt x="1296540" y="2277374"/>
                      <a:pt x="1255781" y="2277374"/>
                    </a:cubicBezTo>
                    <a:lnTo>
                      <a:pt x="73799" y="2277374"/>
                    </a:lnTo>
                    <a:cubicBezTo>
                      <a:pt x="33041" y="2277374"/>
                      <a:pt x="0" y="2244333"/>
                      <a:pt x="0" y="2203575"/>
                    </a:cubicBezTo>
                    <a:lnTo>
                      <a:pt x="0" y="73799"/>
                    </a:lnTo>
                    <a:cubicBezTo>
                      <a:pt x="0" y="33041"/>
                      <a:pt x="33041" y="0"/>
                      <a:pt x="73799" y="0"/>
                    </a:cubicBezTo>
                    <a:close/>
                  </a:path>
                </a:pathLst>
              </a:custGeom>
              <a:solidFill>
                <a:srgbClr val="A3A3A3"/>
              </a:solidFill>
            </p:spPr>
            <p:txBody>
              <a:bodyPr/>
              <a:lstStyle/>
              <a:p>
                <a:endParaRPr lang="en-US"/>
              </a:p>
            </p:txBody>
          </p:sp>
          <p:sp>
            <p:nvSpPr>
              <p:cNvPr id="20" name="TextBox 20"/>
              <p:cNvSpPr txBox="1"/>
              <p:nvPr/>
            </p:nvSpPr>
            <p:spPr>
              <a:xfrm>
                <a:off x="0" y="-38100"/>
                <a:ext cx="1329581" cy="2315474"/>
              </a:xfrm>
              <a:prstGeom prst="rect">
                <a:avLst/>
              </a:prstGeom>
            </p:spPr>
            <p:txBody>
              <a:bodyPr lIns="46305" tIns="46305" rIns="46305" bIns="46305" rtlCol="0" anchor="ctr"/>
              <a:lstStyle/>
              <a:p>
                <a:pPr algn="l">
                  <a:lnSpc>
                    <a:spcPts val="2659"/>
                  </a:lnSpc>
                  <a:spcBef>
                    <a:spcPct val="0"/>
                  </a:spcBef>
                </a:pPr>
                <a:endParaRPr/>
              </a:p>
            </p:txBody>
          </p:sp>
        </p:grpSp>
        <p:grpSp>
          <p:nvGrpSpPr>
            <p:cNvPr id="21" name="Group 21"/>
            <p:cNvGrpSpPr/>
            <p:nvPr/>
          </p:nvGrpSpPr>
          <p:grpSpPr>
            <a:xfrm>
              <a:off x="0" y="0"/>
              <a:ext cx="4750465" cy="8538478"/>
              <a:chOff x="0" y="0"/>
              <a:chExt cx="1290169" cy="2318947"/>
            </a:xfrm>
          </p:grpSpPr>
          <p:sp>
            <p:nvSpPr>
              <p:cNvPr id="22" name="Freeform 22"/>
              <p:cNvSpPr/>
              <p:nvPr/>
            </p:nvSpPr>
            <p:spPr>
              <a:xfrm>
                <a:off x="0" y="0"/>
                <a:ext cx="1290169" cy="2318947"/>
              </a:xfrm>
              <a:custGeom>
                <a:avLst/>
                <a:gdLst/>
                <a:ahLst/>
                <a:cxnLst/>
                <a:rect l="l" t="t" r="r" b="b"/>
                <a:pathLst>
                  <a:path w="1290169" h="2318947">
                    <a:moveTo>
                      <a:pt x="76054" y="0"/>
                    </a:moveTo>
                    <a:lnTo>
                      <a:pt x="1214115" y="0"/>
                    </a:lnTo>
                    <a:cubicBezTo>
                      <a:pt x="1234286" y="0"/>
                      <a:pt x="1253630" y="8013"/>
                      <a:pt x="1267893" y="22276"/>
                    </a:cubicBezTo>
                    <a:cubicBezTo>
                      <a:pt x="1282156" y="36538"/>
                      <a:pt x="1290169" y="55883"/>
                      <a:pt x="1290169" y="76054"/>
                    </a:cubicBezTo>
                    <a:lnTo>
                      <a:pt x="1290169" y="2242894"/>
                    </a:lnTo>
                    <a:cubicBezTo>
                      <a:pt x="1290169" y="2284897"/>
                      <a:pt x="1256118" y="2318947"/>
                      <a:pt x="1214115" y="2318947"/>
                    </a:cubicBezTo>
                    <a:lnTo>
                      <a:pt x="76054" y="2318947"/>
                    </a:lnTo>
                    <a:cubicBezTo>
                      <a:pt x="34050" y="2318947"/>
                      <a:pt x="0" y="2284897"/>
                      <a:pt x="0" y="2242894"/>
                    </a:cubicBezTo>
                    <a:lnTo>
                      <a:pt x="0" y="76054"/>
                    </a:lnTo>
                    <a:cubicBezTo>
                      <a:pt x="0" y="34050"/>
                      <a:pt x="34050" y="0"/>
                      <a:pt x="76054" y="0"/>
                    </a:cubicBezTo>
                    <a:close/>
                  </a:path>
                </a:pathLst>
              </a:custGeom>
              <a:solidFill>
                <a:srgbClr val="FEF5DB"/>
              </a:solidFill>
            </p:spPr>
            <p:txBody>
              <a:bodyPr/>
              <a:lstStyle/>
              <a:p>
                <a:endParaRPr lang="en-US"/>
              </a:p>
            </p:txBody>
          </p:sp>
          <p:sp>
            <p:nvSpPr>
              <p:cNvPr id="23" name="TextBox 23"/>
              <p:cNvSpPr txBox="1"/>
              <p:nvPr/>
            </p:nvSpPr>
            <p:spPr>
              <a:xfrm>
                <a:off x="0" y="-38100"/>
                <a:ext cx="1290169" cy="2357047"/>
              </a:xfrm>
              <a:prstGeom prst="rect">
                <a:avLst/>
              </a:prstGeom>
            </p:spPr>
            <p:txBody>
              <a:bodyPr lIns="46305" tIns="46305" rIns="46305" bIns="46305" rtlCol="0" anchor="ctr"/>
              <a:lstStyle/>
              <a:p>
                <a:pPr algn="l">
                  <a:lnSpc>
                    <a:spcPts val="2659"/>
                  </a:lnSpc>
                  <a:spcBef>
                    <a:spcPct val="0"/>
                  </a:spcBef>
                </a:pPr>
                <a:endParaRPr/>
              </a:p>
            </p:txBody>
          </p:sp>
        </p:grpSp>
        <p:sp>
          <p:nvSpPr>
            <p:cNvPr id="24" name="TextBox 24"/>
            <p:cNvSpPr txBox="1"/>
            <p:nvPr/>
          </p:nvSpPr>
          <p:spPr>
            <a:xfrm>
              <a:off x="231063" y="954480"/>
              <a:ext cx="4288339" cy="6928068"/>
            </a:xfrm>
            <a:prstGeom prst="rect">
              <a:avLst/>
            </a:prstGeom>
          </p:spPr>
          <p:txBody>
            <a:bodyPr lIns="0" tIns="0" rIns="0" bIns="0" rtlCol="0" anchor="t">
              <a:spAutoFit/>
            </a:bodyPr>
            <a:lstStyle/>
            <a:p>
              <a:pPr algn="l">
                <a:lnSpc>
                  <a:spcPts val="2937"/>
                </a:lnSpc>
              </a:pPr>
              <a:r>
                <a:rPr lang="en-US" sz="2277">
                  <a:solidFill>
                    <a:srgbClr val="000000"/>
                  </a:solidFill>
                  <a:latin typeface="Playfair Display"/>
                  <a:ea typeface="Playfair Display"/>
                  <a:cs typeface="Playfair Display"/>
                  <a:sym typeface="Playfair Display"/>
                </a:rPr>
                <a:t>-Kickstarter and Crowdfunding</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Hire Services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Design and Create</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Advertising</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Create and Maintain Partnerships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Continuous Development</a:t>
              </a:r>
            </a:p>
          </p:txBody>
        </p:sp>
        <p:sp>
          <p:nvSpPr>
            <p:cNvPr id="25" name="Freeform 25"/>
            <p:cNvSpPr/>
            <p:nvPr/>
          </p:nvSpPr>
          <p:spPr>
            <a:xfrm>
              <a:off x="463882" y="5155"/>
              <a:ext cx="3822700" cy="977900"/>
            </a:xfrm>
            <a:custGeom>
              <a:avLst/>
              <a:gdLst/>
              <a:ahLst/>
              <a:cxnLst/>
              <a:rect l="l" t="t" r="r" b="b"/>
              <a:pathLst>
                <a:path w="3822700" h="977900">
                  <a:moveTo>
                    <a:pt x="0" y="0"/>
                  </a:moveTo>
                  <a:lnTo>
                    <a:pt x="3822700" y="0"/>
                  </a:lnTo>
                  <a:lnTo>
                    <a:pt x="3822700" y="977900"/>
                  </a:lnTo>
                  <a:lnTo>
                    <a:pt x="0" y="977900"/>
                  </a:lnTo>
                  <a:lnTo>
                    <a:pt x="0" y="0"/>
                  </a:lnTo>
                  <a:close/>
                </a:path>
              </a:pathLst>
            </a:custGeom>
            <a:blipFill>
              <a:blip r:embed="rId4"/>
              <a:stretch>
                <a:fillRect r="-49374" b="-10118"/>
              </a:stretch>
            </a:blipFill>
          </p:spPr>
          <p:txBody>
            <a:bodyPr/>
            <a:lstStyle/>
            <a:p>
              <a:endParaRPr lang="en-US"/>
            </a:p>
          </p:txBody>
        </p:sp>
      </p:grpSp>
      <p:grpSp>
        <p:nvGrpSpPr>
          <p:cNvPr id="26" name="Group 26"/>
          <p:cNvGrpSpPr/>
          <p:nvPr/>
        </p:nvGrpSpPr>
        <p:grpSpPr>
          <a:xfrm>
            <a:off x="11350642" y="2240459"/>
            <a:ext cx="3671686" cy="6403858"/>
            <a:chOff x="0" y="0"/>
            <a:chExt cx="4895581" cy="8538478"/>
          </a:xfrm>
        </p:grpSpPr>
        <p:grpSp>
          <p:nvGrpSpPr>
            <p:cNvPr id="27" name="Group 27"/>
            <p:cNvGrpSpPr/>
            <p:nvPr/>
          </p:nvGrpSpPr>
          <p:grpSpPr>
            <a:xfrm>
              <a:off x="0" y="153076"/>
              <a:ext cx="4895581" cy="8385402"/>
              <a:chOff x="0" y="0"/>
              <a:chExt cx="1329581" cy="2277374"/>
            </a:xfrm>
          </p:grpSpPr>
          <p:sp>
            <p:nvSpPr>
              <p:cNvPr id="28" name="Freeform 28"/>
              <p:cNvSpPr/>
              <p:nvPr/>
            </p:nvSpPr>
            <p:spPr>
              <a:xfrm>
                <a:off x="0" y="0"/>
                <a:ext cx="1329581" cy="2277374"/>
              </a:xfrm>
              <a:custGeom>
                <a:avLst/>
                <a:gdLst/>
                <a:ahLst/>
                <a:cxnLst/>
                <a:rect l="l" t="t" r="r" b="b"/>
                <a:pathLst>
                  <a:path w="1329581" h="2277374">
                    <a:moveTo>
                      <a:pt x="73799" y="0"/>
                    </a:moveTo>
                    <a:lnTo>
                      <a:pt x="1255781" y="0"/>
                    </a:lnTo>
                    <a:cubicBezTo>
                      <a:pt x="1296540" y="0"/>
                      <a:pt x="1329581" y="33041"/>
                      <a:pt x="1329581" y="73799"/>
                    </a:cubicBezTo>
                    <a:lnTo>
                      <a:pt x="1329581" y="2203575"/>
                    </a:lnTo>
                    <a:cubicBezTo>
                      <a:pt x="1329581" y="2244333"/>
                      <a:pt x="1296540" y="2277374"/>
                      <a:pt x="1255781" y="2277374"/>
                    </a:cubicBezTo>
                    <a:lnTo>
                      <a:pt x="73799" y="2277374"/>
                    </a:lnTo>
                    <a:cubicBezTo>
                      <a:pt x="33041" y="2277374"/>
                      <a:pt x="0" y="2244333"/>
                      <a:pt x="0" y="2203575"/>
                    </a:cubicBezTo>
                    <a:lnTo>
                      <a:pt x="0" y="73799"/>
                    </a:lnTo>
                    <a:cubicBezTo>
                      <a:pt x="0" y="33041"/>
                      <a:pt x="33041" y="0"/>
                      <a:pt x="73799" y="0"/>
                    </a:cubicBezTo>
                    <a:close/>
                  </a:path>
                </a:pathLst>
              </a:custGeom>
              <a:solidFill>
                <a:srgbClr val="A3A3A3"/>
              </a:solidFill>
            </p:spPr>
            <p:txBody>
              <a:bodyPr/>
              <a:lstStyle/>
              <a:p>
                <a:endParaRPr lang="en-US"/>
              </a:p>
            </p:txBody>
          </p:sp>
          <p:sp>
            <p:nvSpPr>
              <p:cNvPr id="29" name="TextBox 29"/>
              <p:cNvSpPr txBox="1"/>
              <p:nvPr/>
            </p:nvSpPr>
            <p:spPr>
              <a:xfrm>
                <a:off x="0" y="-38100"/>
                <a:ext cx="1329581" cy="2315474"/>
              </a:xfrm>
              <a:prstGeom prst="rect">
                <a:avLst/>
              </a:prstGeom>
            </p:spPr>
            <p:txBody>
              <a:bodyPr lIns="46305" tIns="46305" rIns="46305" bIns="46305" rtlCol="0" anchor="ctr"/>
              <a:lstStyle/>
              <a:p>
                <a:pPr algn="ctr">
                  <a:lnSpc>
                    <a:spcPts val="2659"/>
                  </a:lnSpc>
                  <a:spcBef>
                    <a:spcPct val="0"/>
                  </a:spcBef>
                </a:pPr>
                <a:endParaRPr/>
              </a:p>
            </p:txBody>
          </p:sp>
        </p:grpSp>
        <p:grpSp>
          <p:nvGrpSpPr>
            <p:cNvPr id="30" name="Group 30"/>
            <p:cNvGrpSpPr/>
            <p:nvPr/>
          </p:nvGrpSpPr>
          <p:grpSpPr>
            <a:xfrm>
              <a:off x="0" y="0"/>
              <a:ext cx="4750465" cy="8538478"/>
              <a:chOff x="0" y="0"/>
              <a:chExt cx="1290169" cy="2318947"/>
            </a:xfrm>
          </p:grpSpPr>
          <p:sp>
            <p:nvSpPr>
              <p:cNvPr id="31" name="Freeform 31"/>
              <p:cNvSpPr/>
              <p:nvPr/>
            </p:nvSpPr>
            <p:spPr>
              <a:xfrm>
                <a:off x="0" y="0"/>
                <a:ext cx="1290169" cy="2318947"/>
              </a:xfrm>
              <a:custGeom>
                <a:avLst/>
                <a:gdLst/>
                <a:ahLst/>
                <a:cxnLst/>
                <a:rect l="l" t="t" r="r" b="b"/>
                <a:pathLst>
                  <a:path w="1290169" h="2318947">
                    <a:moveTo>
                      <a:pt x="76054" y="0"/>
                    </a:moveTo>
                    <a:lnTo>
                      <a:pt x="1214115" y="0"/>
                    </a:lnTo>
                    <a:cubicBezTo>
                      <a:pt x="1234286" y="0"/>
                      <a:pt x="1253630" y="8013"/>
                      <a:pt x="1267893" y="22276"/>
                    </a:cubicBezTo>
                    <a:cubicBezTo>
                      <a:pt x="1282156" y="36538"/>
                      <a:pt x="1290169" y="55883"/>
                      <a:pt x="1290169" y="76054"/>
                    </a:cubicBezTo>
                    <a:lnTo>
                      <a:pt x="1290169" y="2242894"/>
                    </a:lnTo>
                    <a:cubicBezTo>
                      <a:pt x="1290169" y="2284897"/>
                      <a:pt x="1256118" y="2318947"/>
                      <a:pt x="1214115" y="2318947"/>
                    </a:cubicBezTo>
                    <a:lnTo>
                      <a:pt x="76054" y="2318947"/>
                    </a:lnTo>
                    <a:cubicBezTo>
                      <a:pt x="34050" y="2318947"/>
                      <a:pt x="0" y="2284897"/>
                      <a:pt x="0" y="2242894"/>
                    </a:cubicBezTo>
                    <a:lnTo>
                      <a:pt x="0" y="76054"/>
                    </a:lnTo>
                    <a:cubicBezTo>
                      <a:pt x="0" y="34050"/>
                      <a:pt x="34050" y="0"/>
                      <a:pt x="76054" y="0"/>
                    </a:cubicBezTo>
                    <a:close/>
                  </a:path>
                </a:pathLst>
              </a:custGeom>
              <a:solidFill>
                <a:srgbClr val="FEF5DB"/>
              </a:solidFill>
            </p:spPr>
            <p:txBody>
              <a:bodyPr/>
              <a:lstStyle/>
              <a:p>
                <a:endParaRPr lang="en-US"/>
              </a:p>
            </p:txBody>
          </p:sp>
          <p:sp>
            <p:nvSpPr>
              <p:cNvPr id="32" name="TextBox 32"/>
              <p:cNvSpPr txBox="1"/>
              <p:nvPr/>
            </p:nvSpPr>
            <p:spPr>
              <a:xfrm>
                <a:off x="0" y="-38100"/>
                <a:ext cx="1290169" cy="2357047"/>
              </a:xfrm>
              <a:prstGeom prst="rect">
                <a:avLst/>
              </a:prstGeom>
            </p:spPr>
            <p:txBody>
              <a:bodyPr lIns="46305" tIns="46305" rIns="46305" bIns="46305" rtlCol="0" anchor="ctr"/>
              <a:lstStyle/>
              <a:p>
                <a:pPr algn="ctr">
                  <a:lnSpc>
                    <a:spcPts val="2659"/>
                  </a:lnSpc>
                  <a:spcBef>
                    <a:spcPct val="0"/>
                  </a:spcBef>
                </a:pPr>
                <a:endParaRPr/>
              </a:p>
            </p:txBody>
          </p:sp>
        </p:grpSp>
        <p:sp>
          <p:nvSpPr>
            <p:cNvPr id="33" name="TextBox 33"/>
            <p:cNvSpPr txBox="1"/>
            <p:nvPr/>
          </p:nvSpPr>
          <p:spPr>
            <a:xfrm>
              <a:off x="231063" y="954480"/>
              <a:ext cx="4288339" cy="5442168"/>
            </a:xfrm>
            <a:prstGeom prst="rect">
              <a:avLst/>
            </a:prstGeom>
          </p:spPr>
          <p:txBody>
            <a:bodyPr lIns="0" tIns="0" rIns="0" bIns="0" rtlCol="0" anchor="t">
              <a:spAutoFit/>
            </a:bodyPr>
            <a:lstStyle/>
            <a:p>
              <a:pPr algn="just">
                <a:lnSpc>
                  <a:spcPts val="2937"/>
                </a:lnSpc>
              </a:pPr>
              <a:r>
                <a:rPr lang="en-US" sz="2277">
                  <a:solidFill>
                    <a:srgbClr val="000000"/>
                  </a:solidFill>
                  <a:latin typeface="Playfair Display"/>
                  <a:ea typeface="Playfair Display"/>
                  <a:cs typeface="Playfair Display"/>
                  <a:sym typeface="Playfair Display"/>
                </a:rPr>
                <a:t>- Food API/ Database</a:t>
              </a:r>
            </a:p>
            <a:p>
              <a:pPr algn="just">
                <a:lnSpc>
                  <a:spcPts val="2937"/>
                </a:lnSpc>
              </a:pPr>
              <a:endParaRPr lang="en-US" sz="2277">
                <a:solidFill>
                  <a:srgbClr val="000000"/>
                </a:solidFill>
                <a:latin typeface="Playfair Display"/>
                <a:ea typeface="Playfair Display"/>
                <a:cs typeface="Playfair Display"/>
                <a:sym typeface="Playfair Display"/>
              </a:endParaRPr>
            </a:p>
            <a:p>
              <a:pPr algn="just">
                <a:lnSpc>
                  <a:spcPts val="2937"/>
                </a:lnSpc>
              </a:pPr>
              <a:r>
                <a:rPr lang="en-US" sz="2277">
                  <a:solidFill>
                    <a:srgbClr val="000000"/>
                  </a:solidFill>
                  <a:latin typeface="Playfair Display"/>
                  <a:ea typeface="Playfair Display"/>
                  <a:cs typeface="Playfair Display"/>
                  <a:sym typeface="Playfair Display"/>
                </a:rPr>
                <a:t>- Mobile App</a:t>
              </a:r>
            </a:p>
            <a:p>
              <a:pPr algn="just">
                <a:lnSpc>
                  <a:spcPts val="2937"/>
                </a:lnSpc>
              </a:pPr>
              <a:endParaRPr lang="en-US" sz="2277">
                <a:solidFill>
                  <a:srgbClr val="000000"/>
                </a:solidFill>
                <a:latin typeface="Playfair Display"/>
                <a:ea typeface="Playfair Display"/>
                <a:cs typeface="Playfair Display"/>
                <a:sym typeface="Playfair Display"/>
              </a:endParaRPr>
            </a:p>
            <a:p>
              <a:pPr algn="just">
                <a:lnSpc>
                  <a:spcPts val="2937"/>
                </a:lnSpc>
              </a:pPr>
              <a:r>
                <a:rPr lang="en-US" sz="2277">
                  <a:solidFill>
                    <a:srgbClr val="000000"/>
                  </a:solidFill>
                  <a:latin typeface="Playfair Display"/>
                  <a:ea typeface="Playfair Display"/>
                  <a:cs typeface="Playfair Display"/>
                  <a:sym typeface="Playfair Display"/>
                </a:rPr>
                <a:t>- User-generated Data</a:t>
              </a:r>
            </a:p>
            <a:p>
              <a:pPr algn="just">
                <a:lnSpc>
                  <a:spcPts val="2937"/>
                </a:lnSpc>
              </a:pPr>
              <a:endParaRPr lang="en-US" sz="2277">
                <a:solidFill>
                  <a:srgbClr val="000000"/>
                </a:solidFill>
                <a:latin typeface="Playfair Display"/>
                <a:ea typeface="Playfair Display"/>
                <a:cs typeface="Playfair Display"/>
                <a:sym typeface="Playfair Display"/>
              </a:endParaRPr>
            </a:p>
            <a:p>
              <a:pPr algn="just">
                <a:lnSpc>
                  <a:spcPts val="2937"/>
                </a:lnSpc>
              </a:pPr>
              <a:r>
                <a:rPr lang="en-US" sz="2277">
                  <a:solidFill>
                    <a:srgbClr val="000000"/>
                  </a:solidFill>
                  <a:latin typeface="Playfair Display"/>
                  <a:ea typeface="Playfair Display"/>
                  <a:cs typeface="Playfair Display"/>
                  <a:sym typeface="Playfair Display"/>
                </a:rPr>
                <a:t>- Partners</a:t>
              </a:r>
            </a:p>
            <a:p>
              <a:pPr algn="just">
                <a:lnSpc>
                  <a:spcPts val="2937"/>
                </a:lnSpc>
              </a:pPr>
              <a:endParaRPr lang="en-US" sz="2277">
                <a:solidFill>
                  <a:srgbClr val="000000"/>
                </a:solidFill>
                <a:latin typeface="Playfair Display"/>
                <a:ea typeface="Playfair Display"/>
                <a:cs typeface="Playfair Display"/>
                <a:sym typeface="Playfair Display"/>
              </a:endParaRPr>
            </a:p>
            <a:p>
              <a:pPr algn="just">
                <a:lnSpc>
                  <a:spcPts val="2937"/>
                </a:lnSpc>
              </a:pPr>
              <a:r>
                <a:rPr lang="en-US" sz="2277">
                  <a:solidFill>
                    <a:srgbClr val="000000"/>
                  </a:solidFill>
                  <a:latin typeface="Playfair Display"/>
                  <a:ea typeface="Playfair Display"/>
                  <a:cs typeface="Playfair Display"/>
                  <a:sym typeface="Playfair Display"/>
                </a:rPr>
                <a:t>- Development Team</a:t>
              </a:r>
            </a:p>
            <a:p>
              <a:pPr algn="just">
                <a:lnSpc>
                  <a:spcPts val="2937"/>
                </a:lnSpc>
              </a:pPr>
              <a:endParaRPr lang="en-US" sz="2277">
                <a:solidFill>
                  <a:srgbClr val="000000"/>
                </a:solidFill>
                <a:latin typeface="Playfair Display"/>
                <a:ea typeface="Playfair Display"/>
                <a:cs typeface="Playfair Display"/>
                <a:sym typeface="Playfair Display"/>
              </a:endParaRPr>
            </a:p>
            <a:p>
              <a:pPr algn="just">
                <a:lnSpc>
                  <a:spcPts val="2937"/>
                </a:lnSpc>
              </a:pPr>
              <a:r>
                <a:rPr lang="en-US" sz="2277">
                  <a:solidFill>
                    <a:srgbClr val="000000"/>
                  </a:solidFill>
                  <a:latin typeface="Playfair Display"/>
                  <a:ea typeface="Playfair Display"/>
                  <a:cs typeface="Playfair Display"/>
                  <a:sym typeface="Playfair Display"/>
                </a:rPr>
                <a:t>- Artificial Intelligence</a:t>
              </a:r>
            </a:p>
          </p:txBody>
        </p:sp>
        <p:sp>
          <p:nvSpPr>
            <p:cNvPr id="34" name="Freeform 34"/>
            <p:cNvSpPr/>
            <p:nvPr/>
          </p:nvSpPr>
          <p:spPr>
            <a:xfrm>
              <a:off x="548484" y="0"/>
              <a:ext cx="3798613" cy="950834"/>
            </a:xfrm>
            <a:custGeom>
              <a:avLst/>
              <a:gdLst/>
              <a:ahLst/>
              <a:cxnLst/>
              <a:rect l="l" t="t" r="r" b="b"/>
              <a:pathLst>
                <a:path w="3798613" h="950834">
                  <a:moveTo>
                    <a:pt x="0" y="0"/>
                  </a:moveTo>
                  <a:lnTo>
                    <a:pt x="3798613" y="0"/>
                  </a:lnTo>
                  <a:lnTo>
                    <a:pt x="3798613" y="950834"/>
                  </a:lnTo>
                  <a:lnTo>
                    <a:pt x="0" y="950834"/>
                  </a:lnTo>
                  <a:lnTo>
                    <a:pt x="0" y="0"/>
                  </a:lnTo>
                  <a:close/>
                </a:path>
              </a:pathLst>
            </a:custGeom>
            <a:blipFill>
              <a:blip r:embed="rId5"/>
              <a:stretch>
                <a:fillRect r="-1596"/>
              </a:stretch>
            </a:blipFill>
          </p:spPr>
          <p:txBody>
            <a:bodyPr/>
            <a:lstStyle/>
            <a:p>
              <a:endParaRPr lang="en-US"/>
            </a:p>
          </p:txBody>
        </p:sp>
      </p:grpSp>
      <p:sp>
        <p:nvSpPr>
          <p:cNvPr id="35" name="TextBox 35"/>
          <p:cNvSpPr txBox="1"/>
          <p:nvPr/>
        </p:nvSpPr>
        <p:spPr>
          <a:xfrm>
            <a:off x="433758" y="478731"/>
            <a:ext cx="12608968"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Operational Model</a:t>
            </a:r>
          </a:p>
        </p:txBody>
      </p:sp>
      <p:sp>
        <p:nvSpPr>
          <p:cNvPr id="36" name="TextBox 36"/>
          <p:cNvSpPr txBox="1"/>
          <p:nvPr/>
        </p:nvSpPr>
        <p:spPr>
          <a:xfrm>
            <a:off x="750562" y="1562373"/>
            <a:ext cx="12608968"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Business Model Canvas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grpSp>
        <p:nvGrpSpPr>
          <p:cNvPr id="8" name="Group 8"/>
          <p:cNvGrpSpPr/>
          <p:nvPr/>
        </p:nvGrpSpPr>
        <p:grpSpPr>
          <a:xfrm>
            <a:off x="433758" y="2162448"/>
            <a:ext cx="6611548" cy="6849172"/>
            <a:chOff x="0" y="0"/>
            <a:chExt cx="8815397" cy="9132229"/>
          </a:xfrm>
        </p:grpSpPr>
        <p:grpSp>
          <p:nvGrpSpPr>
            <p:cNvPr id="9" name="Group 9"/>
            <p:cNvGrpSpPr/>
            <p:nvPr/>
          </p:nvGrpSpPr>
          <p:grpSpPr>
            <a:xfrm>
              <a:off x="0" y="1176010"/>
              <a:ext cx="7240429" cy="7956219"/>
              <a:chOff x="0" y="0"/>
              <a:chExt cx="1796534" cy="1974140"/>
            </a:xfrm>
          </p:grpSpPr>
          <p:sp>
            <p:nvSpPr>
              <p:cNvPr id="10" name="Freeform 10"/>
              <p:cNvSpPr/>
              <p:nvPr/>
            </p:nvSpPr>
            <p:spPr>
              <a:xfrm>
                <a:off x="0" y="0"/>
                <a:ext cx="1796534" cy="1974140"/>
              </a:xfrm>
              <a:custGeom>
                <a:avLst/>
                <a:gdLst/>
                <a:ahLst/>
                <a:cxnLst/>
                <a:rect l="l" t="t" r="r" b="b"/>
                <a:pathLst>
                  <a:path w="1796534" h="1974140">
                    <a:moveTo>
                      <a:pt x="49899" y="0"/>
                    </a:moveTo>
                    <a:lnTo>
                      <a:pt x="1746635" y="0"/>
                    </a:lnTo>
                    <a:cubicBezTo>
                      <a:pt x="1774193" y="0"/>
                      <a:pt x="1796534" y="22341"/>
                      <a:pt x="1796534" y="49899"/>
                    </a:cubicBezTo>
                    <a:lnTo>
                      <a:pt x="1796534" y="1924241"/>
                    </a:lnTo>
                    <a:cubicBezTo>
                      <a:pt x="1796534" y="1951799"/>
                      <a:pt x="1774193" y="1974140"/>
                      <a:pt x="1746635" y="1974140"/>
                    </a:cubicBezTo>
                    <a:lnTo>
                      <a:pt x="49899" y="1974140"/>
                    </a:lnTo>
                    <a:cubicBezTo>
                      <a:pt x="22341" y="1974140"/>
                      <a:pt x="0" y="1951799"/>
                      <a:pt x="0" y="1924241"/>
                    </a:cubicBezTo>
                    <a:lnTo>
                      <a:pt x="0" y="49899"/>
                    </a:lnTo>
                    <a:cubicBezTo>
                      <a:pt x="0" y="22341"/>
                      <a:pt x="22341" y="0"/>
                      <a:pt x="49899" y="0"/>
                    </a:cubicBezTo>
                    <a:close/>
                  </a:path>
                </a:pathLst>
              </a:custGeom>
              <a:solidFill>
                <a:srgbClr val="A3A3A3"/>
              </a:solidFill>
            </p:spPr>
            <p:txBody>
              <a:bodyPr/>
              <a:lstStyle/>
              <a:p>
                <a:endParaRPr lang="en-US"/>
              </a:p>
            </p:txBody>
          </p:sp>
          <p:sp>
            <p:nvSpPr>
              <p:cNvPr id="11" name="TextBox 11"/>
              <p:cNvSpPr txBox="1"/>
              <p:nvPr/>
            </p:nvSpPr>
            <p:spPr>
              <a:xfrm>
                <a:off x="0" y="-38100"/>
                <a:ext cx="1796534" cy="2012240"/>
              </a:xfrm>
              <a:prstGeom prst="rect">
                <a:avLst/>
              </a:prstGeom>
            </p:spPr>
            <p:txBody>
              <a:bodyPr lIns="50683" tIns="50683" rIns="50683" bIns="50683" rtlCol="0" anchor="ctr"/>
              <a:lstStyle/>
              <a:p>
                <a:pPr algn="ctr">
                  <a:lnSpc>
                    <a:spcPts val="2659"/>
                  </a:lnSpc>
                  <a:spcBef>
                    <a:spcPct val="0"/>
                  </a:spcBef>
                </a:pPr>
                <a:endParaRPr/>
              </a:p>
            </p:txBody>
          </p:sp>
        </p:grpSp>
        <p:grpSp>
          <p:nvGrpSpPr>
            <p:cNvPr id="12" name="Group 12"/>
            <p:cNvGrpSpPr/>
            <p:nvPr/>
          </p:nvGrpSpPr>
          <p:grpSpPr>
            <a:xfrm>
              <a:off x="0" y="965026"/>
              <a:ext cx="7081491" cy="8167203"/>
              <a:chOff x="0" y="0"/>
              <a:chExt cx="1757097" cy="2026490"/>
            </a:xfrm>
          </p:grpSpPr>
          <p:sp>
            <p:nvSpPr>
              <p:cNvPr id="13" name="Freeform 13"/>
              <p:cNvSpPr/>
              <p:nvPr/>
            </p:nvSpPr>
            <p:spPr>
              <a:xfrm>
                <a:off x="0" y="0"/>
                <a:ext cx="1757097" cy="2026490"/>
              </a:xfrm>
              <a:custGeom>
                <a:avLst/>
                <a:gdLst/>
                <a:ahLst/>
                <a:cxnLst/>
                <a:rect l="l" t="t" r="r" b="b"/>
                <a:pathLst>
                  <a:path w="1757097" h="2026490">
                    <a:moveTo>
                      <a:pt x="51019" y="0"/>
                    </a:moveTo>
                    <a:lnTo>
                      <a:pt x="1706078" y="0"/>
                    </a:lnTo>
                    <a:cubicBezTo>
                      <a:pt x="1734255" y="0"/>
                      <a:pt x="1757097" y="22842"/>
                      <a:pt x="1757097" y="51019"/>
                    </a:cubicBezTo>
                    <a:lnTo>
                      <a:pt x="1757097" y="1975471"/>
                    </a:lnTo>
                    <a:cubicBezTo>
                      <a:pt x="1757097" y="2003648"/>
                      <a:pt x="1734255" y="2026490"/>
                      <a:pt x="1706078" y="2026490"/>
                    </a:cubicBezTo>
                    <a:lnTo>
                      <a:pt x="51019" y="2026490"/>
                    </a:lnTo>
                    <a:cubicBezTo>
                      <a:pt x="22842" y="2026490"/>
                      <a:pt x="0" y="2003648"/>
                      <a:pt x="0" y="1975471"/>
                    </a:cubicBezTo>
                    <a:lnTo>
                      <a:pt x="0" y="51019"/>
                    </a:lnTo>
                    <a:cubicBezTo>
                      <a:pt x="0" y="22842"/>
                      <a:pt x="22842" y="0"/>
                      <a:pt x="51019" y="0"/>
                    </a:cubicBezTo>
                    <a:close/>
                  </a:path>
                </a:pathLst>
              </a:custGeom>
              <a:solidFill>
                <a:srgbClr val="FEF5DB"/>
              </a:solidFill>
            </p:spPr>
            <p:txBody>
              <a:bodyPr/>
              <a:lstStyle/>
              <a:p>
                <a:endParaRPr lang="en-US"/>
              </a:p>
            </p:txBody>
          </p:sp>
          <p:sp>
            <p:nvSpPr>
              <p:cNvPr id="14" name="TextBox 14"/>
              <p:cNvSpPr txBox="1"/>
              <p:nvPr/>
            </p:nvSpPr>
            <p:spPr>
              <a:xfrm>
                <a:off x="0" y="-38100"/>
                <a:ext cx="1757097" cy="2064590"/>
              </a:xfrm>
              <a:prstGeom prst="rect">
                <a:avLst/>
              </a:prstGeom>
            </p:spPr>
            <p:txBody>
              <a:bodyPr lIns="50683" tIns="50683" rIns="50683" bIns="50683" rtlCol="0" anchor="ctr"/>
              <a:lstStyle/>
              <a:p>
                <a:pPr algn="ctr">
                  <a:lnSpc>
                    <a:spcPts val="2659"/>
                  </a:lnSpc>
                  <a:spcBef>
                    <a:spcPct val="0"/>
                  </a:spcBef>
                </a:pPr>
                <a:endParaRPr/>
              </a:p>
            </p:txBody>
          </p:sp>
        </p:grpSp>
        <p:sp>
          <p:nvSpPr>
            <p:cNvPr id="15" name="TextBox 15"/>
            <p:cNvSpPr txBox="1"/>
            <p:nvPr/>
          </p:nvSpPr>
          <p:spPr>
            <a:xfrm>
              <a:off x="197750" y="1226100"/>
              <a:ext cx="8617647" cy="7423368"/>
            </a:xfrm>
            <a:prstGeom prst="rect">
              <a:avLst/>
            </a:prstGeom>
          </p:spPr>
          <p:txBody>
            <a:bodyPr lIns="0" tIns="0" rIns="0" bIns="0" rtlCol="0" anchor="t">
              <a:spAutoFit/>
            </a:bodyPr>
            <a:lstStyle/>
            <a:p>
              <a:pPr algn="l">
                <a:lnSpc>
                  <a:spcPts val="2937"/>
                </a:lnSpc>
              </a:pPr>
              <a:r>
                <a:rPr lang="en-US" sz="2277">
                  <a:solidFill>
                    <a:srgbClr val="000000"/>
                  </a:solidFill>
                  <a:latin typeface="Playfair Display"/>
                  <a:ea typeface="Playfair Display"/>
                  <a:cs typeface="Playfair Display"/>
                  <a:sym typeface="Playfair Display"/>
                </a:rPr>
                <a:t>- Initial Development: £25.000\one-off</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Maintenance: £10.000\yearly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Cloud Services: £2.000\yearly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Marketing: £3.000\yearly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Partnerships: £2.000\yearly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App Stores: £100\yearly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 Customer Support: £1.000\yearly</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endParaRPr lang="en-US" sz="2277">
                <a:solidFill>
                  <a:srgbClr val="000000"/>
                </a:solidFill>
                <a:latin typeface="Playfair Display"/>
                <a:ea typeface="Playfair Display"/>
                <a:cs typeface="Playfair Display"/>
                <a:sym typeface="Playfair Display"/>
              </a:endParaRPr>
            </a:p>
          </p:txBody>
        </p:sp>
        <p:sp>
          <p:nvSpPr>
            <p:cNvPr id="16" name="Freeform 16"/>
            <p:cNvSpPr/>
            <p:nvPr/>
          </p:nvSpPr>
          <p:spPr>
            <a:xfrm>
              <a:off x="330800" y="0"/>
              <a:ext cx="2098548" cy="965026"/>
            </a:xfrm>
            <a:custGeom>
              <a:avLst/>
              <a:gdLst/>
              <a:ahLst/>
              <a:cxnLst/>
              <a:rect l="l" t="t" r="r" b="b"/>
              <a:pathLst>
                <a:path w="2098548" h="965026">
                  <a:moveTo>
                    <a:pt x="0" y="0"/>
                  </a:moveTo>
                  <a:lnTo>
                    <a:pt x="2098548" y="0"/>
                  </a:lnTo>
                  <a:lnTo>
                    <a:pt x="2098548" y="965026"/>
                  </a:lnTo>
                  <a:lnTo>
                    <a:pt x="0" y="965026"/>
                  </a:lnTo>
                  <a:lnTo>
                    <a:pt x="0" y="0"/>
                  </a:lnTo>
                  <a:close/>
                </a:path>
              </a:pathLst>
            </a:custGeom>
            <a:blipFill>
              <a:blip r:embed="rId3"/>
              <a:stretch>
                <a:fillRect/>
              </a:stretch>
            </a:blipFill>
          </p:spPr>
          <p:txBody>
            <a:bodyPr/>
            <a:lstStyle/>
            <a:p>
              <a:endParaRPr lang="en-US"/>
            </a:p>
          </p:txBody>
        </p:sp>
      </p:grpSp>
      <p:grpSp>
        <p:nvGrpSpPr>
          <p:cNvPr id="17" name="Group 17"/>
          <p:cNvGrpSpPr/>
          <p:nvPr/>
        </p:nvGrpSpPr>
        <p:grpSpPr>
          <a:xfrm>
            <a:off x="6162066" y="2142063"/>
            <a:ext cx="6611548" cy="6860032"/>
            <a:chOff x="0" y="0"/>
            <a:chExt cx="8815397" cy="9146709"/>
          </a:xfrm>
        </p:grpSpPr>
        <p:grpSp>
          <p:nvGrpSpPr>
            <p:cNvPr id="18" name="Group 18"/>
            <p:cNvGrpSpPr/>
            <p:nvPr/>
          </p:nvGrpSpPr>
          <p:grpSpPr>
            <a:xfrm>
              <a:off x="0" y="1256616"/>
              <a:ext cx="7146372" cy="7875613"/>
              <a:chOff x="0" y="0"/>
              <a:chExt cx="1773196" cy="1954139"/>
            </a:xfrm>
          </p:grpSpPr>
          <p:sp>
            <p:nvSpPr>
              <p:cNvPr id="19" name="Freeform 19"/>
              <p:cNvSpPr/>
              <p:nvPr/>
            </p:nvSpPr>
            <p:spPr>
              <a:xfrm>
                <a:off x="0" y="0"/>
                <a:ext cx="1773196" cy="1954139"/>
              </a:xfrm>
              <a:custGeom>
                <a:avLst/>
                <a:gdLst/>
                <a:ahLst/>
                <a:cxnLst/>
                <a:rect l="l" t="t" r="r" b="b"/>
                <a:pathLst>
                  <a:path w="1773196" h="1954139">
                    <a:moveTo>
                      <a:pt x="50556" y="0"/>
                    </a:moveTo>
                    <a:lnTo>
                      <a:pt x="1722640" y="0"/>
                    </a:lnTo>
                    <a:cubicBezTo>
                      <a:pt x="1750562" y="0"/>
                      <a:pt x="1773196" y="22635"/>
                      <a:pt x="1773196" y="50556"/>
                    </a:cubicBezTo>
                    <a:lnTo>
                      <a:pt x="1773196" y="1903584"/>
                    </a:lnTo>
                    <a:cubicBezTo>
                      <a:pt x="1773196" y="1931505"/>
                      <a:pt x="1750562" y="1954139"/>
                      <a:pt x="1722640" y="1954139"/>
                    </a:cubicBezTo>
                    <a:lnTo>
                      <a:pt x="50556" y="1954139"/>
                    </a:lnTo>
                    <a:cubicBezTo>
                      <a:pt x="22635" y="1954139"/>
                      <a:pt x="0" y="1931505"/>
                      <a:pt x="0" y="1903584"/>
                    </a:cubicBezTo>
                    <a:lnTo>
                      <a:pt x="0" y="50556"/>
                    </a:lnTo>
                    <a:cubicBezTo>
                      <a:pt x="0" y="22635"/>
                      <a:pt x="22635" y="0"/>
                      <a:pt x="50556" y="0"/>
                    </a:cubicBezTo>
                    <a:close/>
                  </a:path>
                </a:pathLst>
              </a:custGeom>
              <a:solidFill>
                <a:srgbClr val="A3A3A3"/>
              </a:solidFill>
            </p:spPr>
            <p:txBody>
              <a:bodyPr/>
              <a:lstStyle/>
              <a:p>
                <a:endParaRPr lang="en-US"/>
              </a:p>
            </p:txBody>
          </p:sp>
          <p:sp>
            <p:nvSpPr>
              <p:cNvPr id="20" name="TextBox 20"/>
              <p:cNvSpPr txBox="1"/>
              <p:nvPr/>
            </p:nvSpPr>
            <p:spPr>
              <a:xfrm>
                <a:off x="0" y="-38100"/>
                <a:ext cx="1773196" cy="1992239"/>
              </a:xfrm>
              <a:prstGeom prst="rect">
                <a:avLst/>
              </a:prstGeom>
            </p:spPr>
            <p:txBody>
              <a:bodyPr lIns="50683" tIns="50683" rIns="50683" bIns="50683" rtlCol="0" anchor="ctr"/>
              <a:lstStyle/>
              <a:p>
                <a:pPr algn="ctr">
                  <a:lnSpc>
                    <a:spcPts val="2659"/>
                  </a:lnSpc>
                  <a:spcBef>
                    <a:spcPct val="0"/>
                  </a:spcBef>
                </a:pPr>
                <a:endParaRPr/>
              </a:p>
            </p:txBody>
          </p:sp>
        </p:grpSp>
        <p:grpSp>
          <p:nvGrpSpPr>
            <p:cNvPr id="21" name="Group 21"/>
            <p:cNvGrpSpPr/>
            <p:nvPr/>
          </p:nvGrpSpPr>
          <p:grpSpPr>
            <a:xfrm>
              <a:off x="0" y="974943"/>
              <a:ext cx="6987433" cy="8157286"/>
              <a:chOff x="0" y="0"/>
              <a:chExt cx="1733759" cy="2024029"/>
            </a:xfrm>
          </p:grpSpPr>
          <p:sp>
            <p:nvSpPr>
              <p:cNvPr id="22" name="Freeform 22"/>
              <p:cNvSpPr/>
              <p:nvPr/>
            </p:nvSpPr>
            <p:spPr>
              <a:xfrm>
                <a:off x="0" y="0"/>
                <a:ext cx="1733759" cy="2024029"/>
              </a:xfrm>
              <a:custGeom>
                <a:avLst/>
                <a:gdLst/>
                <a:ahLst/>
                <a:cxnLst/>
                <a:rect l="l" t="t" r="r" b="b"/>
                <a:pathLst>
                  <a:path w="1733759" h="2024029">
                    <a:moveTo>
                      <a:pt x="51706" y="0"/>
                    </a:moveTo>
                    <a:lnTo>
                      <a:pt x="1682054" y="0"/>
                    </a:lnTo>
                    <a:cubicBezTo>
                      <a:pt x="1695767" y="0"/>
                      <a:pt x="1708918" y="5448"/>
                      <a:pt x="1718615" y="15144"/>
                    </a:cubicBezTo>
                    <a:cubicBezTo>
                      <a:pt x="1728312" y="24841"/>
                      <a:pt x="1733759" y="37992"/>
                      <a:pt x="1733759" y="51706"/>
                    </a:cubicBezTo>
                    <a:lnTo>
                      <a:pt x="1733759" y="1972324"/>
                    </a:lnTo>
                    <a:cubicBezTo>
                      <a:pt x="1733759" y="1986037"/>
                      <a:pt x="1728312" y="1999188"/>
                      <a:pt x="1718615" y="2008885"/>
                    </a:cubicBezTo>
                    <a:cubicBezTo>
                      <a:pt x="1708918" y="2018582"/>
                      <a:pt x="1695767" y="2024029"/>
                      <a:pt x="1682054" y="2024029"/>
                    </a:cubicBezTo>
                    <a:lnTo>
                      <a:pt x="51706" y="2024029"/>
                    </a:lnTo>
                    <a:cubicBezTo>
                      <a:pt x="37992" y="2024029"/>
                      <a:pt x="24841" y="2018582"/>
                      <a:pt x="15144" y="2008885"/>
                    </a:cubicBezTo>
                    <a:cubicBezTo>
                      <a:pt x="5448" y="1999188"/>
                      <a:pt x="0" y="1986037"/>
                      <a:pt x="0" y="1972324"/>
                    </a:cubicBezTo>
                    <a:lnTo>
                      <a:pt x="0" y="51706"/>
                    </a:lnTo>
                    <a:cubicBezTo>
                      <a:pt x="0" y="37992"/>
                      <a:pt x="5448" y="24841"/>
                      <a:pt x="15144" y="15144"/>
                    </a:cubicBezTo>
                    <a:cubicBezTo>
                      <a:pt x="24841" y="5448"/>
                      <a:pt x="37992" y="0"/>
                      <a:pt x="51706" y="0"/>
                    </a:cubicBezTo>
                    <a:close/>
                  </a:path>
                </a:pathLst>
              </a:custGeom>
              <a:solidFill>
                <a:srgbClr val="FEF5DB"/>
              </a:solidFill>
            </p:spPr>
            <p:txBody>
              <a:bodyPr/>
              <a:lstStyle/>
              <a:p>
                <a:endParaRPr lang="en-US"/>
              </a:p>
            </p:txBody>
          </p:sp>
          <p:sp>
            <p:nvSpPr>
              <p:cNvPr id="23" name="TextBox 23"/>
              <p:cNvSpPr txBox="1"/>
              <p:nvPr/>
            </p:nvSpPr>
            <p:spPr>
              <a:xfrm>
                <a:off x="0" y="-38100"/>
                <a:ext cx="1733759" cy="2062129"/>
              </a:xfrm>
              <a:prstGeom prst="rect">
                <a:avLst/>
              </a:prstGeom>
            </p:spPr>
            <p:txBody>
              <a:bodyPr lIns="50683" tIns="50683" rIns="50683" bIns="50683" rtlCol="0" anchor="ctr"/>
              <a:lstStyle/>
              <a:p>
                <a:pPr algn="ctr">
                  <a:lnSpc>
                    <a:spcPts val="2659"/>
                  </a:lnSpc>
                  <a:spcBef>
                    <a:spcPct val="0"/>
                  </a:spcBef>
                </a:pPr>
                <a:endParaRPr/>
              </a:p>
            </p:txBody>
          </p:sp>
        </p:grpSp>
        <p:sp>
          <p:nvSpPr>
            <p:cNvPr id="24" name="Freeform 24"/>
            <p:cNvSpPr/>
            <p:nvPr/>
          </p:nvSpPr>
          <p:spPr>
            <a:xfrm>
              <a:off x="424706" y="0"/>
              <a:ext cx="2938850" cy="1080226"/>
            </a:xfrm>
            <a:custGeom>
              <a:avLst/>
              <a:gdLst/>
              <a:ahLst/>
              <a:cxnLst/>
              <a:rect l="l" t="t" r="r" b="b"/>
              <a:pathLst>
                <a:path w="2938850" h="1080226">
                  <a:moveTo>
                    <a:pt x="0" y="0"/>
                  </a:moveTo>
                  <a:lnTo>
                    <a:pt x="2938850" y="0"/>
                  </a:lnTo>
                  <a:lnTo>
                    <a:pt x="2938850" y="1080226"/>
                  </a:lnTo>
                  <a:lnTo>
                    <a:pt x="0" y="1080226"/>
                  </a:lnTo>
                  <a:lnTo>
                    <a:pt x="0" y="0"/>
                  </a:lnTo>
                  <a:close/>
                </a:path>
              </a:pathLst>
            </a:custGeom>
            <a:blipFill>
              <a:blip r:embed="rId4"/>
              <a:stretch>
                <a:fillRect/>
              </a:stretch>
            </a:blipFill>
          </p:spPr>
          <p:txBody>
            <a:bodyPr/>
            <a:lstStyle/>
            <a:p>
              <a:endParaRPr lang="en-US"/>
            </a:p>
          </p:txBody>
        </p:sp>
        <p:sp>
          <p:nvSpPr>
            <p:cNvPr id="25" name="TextBox 25"/>
            <p:cNvSpPr txBox="1"/>
            <p:nvPr/>
          </p:nvSpPr>
          <p:spPr>
            <a:xfrm>
              <a:off x="197750" y="1228041"/>
              <a:ext cx="8617647" cy="7918668"/>
            </a:xfrm>
            <a:prstGeom prst="rect">
              <a:avLst/>
            </a:prstGeom>
          </p:spPr>
          <p:txBody>
            <a:bodyPr lIns="0" tIns="0" rIns="0" bIns="0" rtlCol="0" anchor="t">
              <a:spAutoFit/>
            </a:bodyPr>
            <a:lstStyle/>
            <a:p>
              <a:pPr algn="l">
                <a:lnSpc>
                  <a:spcPts val="2937"/>
                </a:lnSpc>
              </a:pPr>
              <a:r>
                <a:rPr lang="en-US" sz="2277">
                  <a:solidFill>
                    <a:srgbClr val="000000"/>
                  </a:solidFill>
                  <a:latin typeface="Playfair Display"/>
                  <a:ea typeface="Playfair Display"/>
                  <a:cs typeface="Playfair Display"/>
                  <a:sym typeface="Playfair Display"/>
                </a:rPr>
                <a:t>- Premium Subscription: </a:t>
              </a:r>
            </a:p>
            <a:p>
              <a:pPr algn="l">
                <a:lnSpc>
                  <a:spcPts val="2937"/>
                </a:lnSpc>
              </a:pPr>
              <a:r>
                <a:rPr lang="en-US" sz="2277">
                  <a:solidFill>
                    <a:srgbClr val="000000"/>
                  </a:solidFill>
                  <a:latin typeface="Playfair Display"/>
                  <a:ea typeface="Playfair Display"/>
                  <a:cs typeface="Playfair Display"/>
                  <a:sym typeface="Playfair Display"/>
                </a:rPr>
                <a:t>- 8% of total users</a:t>
              </a:r>
            </a:p>
            <a:p>
              <a:pPr algn="l">
                <a:lnSpc>
                  <a:spcPts val="2937"/>
                </a:lnSpc>
              </a:pPr>
              <a:r>
                <a:rPr lang="en-US" sz="2277">
                  <a:solidFill>
                    <a:srgbClr val="000000"/>
                  </a:solidFill>
                  <a:latin typeface="Playfair Display"/>
                  <a:ea typeface="Playfair Display"/>
                  <a:cs typeface="Playfair Display"/>
                  <a:sym typeface="Playfair Display"/>
                </a:rPr>
                <a:t>- 1000 user by month 12</a:t>
              </a:r>
            </a:p>
            <a:p>
              <a:pPr algn="l">
                <a:lnSpc>
                  <a:spcPts val="2937"/>
                </a:lnSpc>
              </a:pPr>
              <a:r>
                <a:rPr lang="en-US" sz="2277">
                  <a:solidFill>
                    <a:srgbClr val="000000"/>
                  </a:solidFill>
                  <a:latin typeface="Playfair Display"/>
                  <a:ea typeface="Playfair Display"/>
                  <a:cs typeface="Playfair Display"/>
                  <a:sym typeface="Playfair Display"/>
                </a:rPr>
                <a:t>- £3.99\month</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Advertisement: </a:t>
              </a:r>
            </a:p>
            <a:p>
              <a:pPr algn="l">
                <a:lnSpc>
                  <a:spcPts val="2937"/>
                </a:lnSpc>
              </a:pPr>
              <a:r>
                <a:rPr lang="en-US" sz="2277">
                  <a:solidFill>
                    <a:srgbClr val="000000"/>
                  </a:solidFill>
                  <a:latin typeface="Playfair Display"/>
                  <a:ea typeface="Playfair Display"/>
                  <a:cs typeface="Playfair Display"/>
                  <a:sym typeface="Playfair Display"/>
                </a:rPr>
                <a:t>- ~15 per user, per month</a:t>
              </a:r>
            </a:p>
            <a:p>
              <a:pPr algn="l">
                <a:lnSpc>
                  <a:spcPts val="2937"/>
                </a:lnSpc>
              </a:pPr>
              <a:r>
                <a:rPr lang="en-US" sz="2277">
                  <a:solidFill>
                    <a:srgbClr val="000000"/>
                  </a:solidFill>
                  <a:latin typeface="Playfair Display"/>
                  <a:ea typeface="Playfair Display"/>
                  <a:cs typeface="Playfair Display"/>
                  <a:sym typeface="Playfair Display"/>
                </a:rPr>
                <a:t>- 50,000 for the year</a:t>
              </a:r>
            </a:p>
            <a:p>
              <a:pPr algn="l">
                <a:lnSpc>
                  <a:spcPts val="2937"/>
                </a:lnSpc>
              </a:pPr>
              <a:r>
                <a:rPr lang="en-US" sz="2277">
                  <a:solidFill>
                    <a:srgbClr val="000000"/>
                  </a:solidFill>
                  <a:latin typeface="Playfair Display"/>
                  <a:ea typeface="Playfair Display"/>
                  <a:cs typeface="Playfair Display"/>
                  <a:sym typeface="Playfair Display"/>
                </a:rPr>
                <a:t>- £4 for 1.000 views</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r>
                <a:rPr lang="en-US" sz="2277">
                  <a:solidFill>
                    <a:srgbClr val="000000"/>
                  </a:solidFill>
                  <a:latin typeface="Playfair Display"/>
                  <a:ea typeface="Playfair Display"/>
                  <a:cs typeface="Playfair Display"/>
                  <a:sym typeface="Playfair Display"/>
                </a:rPr>
                <a:t>Grocery Commissions:</a:t>
              </a:r>
            </a:p>
            <a:p>
              <a:pPr algn="l">
                <a:lnSpc>
                  <a:spcPts val="2937"/>
                </a:lnSpc>
              </a:pPr>
              <a:r>
                <a:rPr lang="en-US" sz="2277">
                  <a:solidFill>
                    <a:srgbClr val="000000"/>
                  </a:solidFill>
                  <a:latin typeface="Playfair Display"/>
                  <a:ea typeface="Playfair Display"/>
                  <a:cs typeface="Playfair Display"/>
                  <a:sym typeface="Playfair Display"/>
                </a:rPr>
                <a:t>- 3 – 5% of total users</a:t>
              </a:r>
            </a:p>
            <a:p>
              <a:pPr algn="l">
                <a:lnSpc>
                  <a:spcPts val="2937"/>
                </a:lnSpc>
              </a:pPr>
              <a:r>
                <a:rPr lang="en-US" sz="2277">
                  <a:solidFill>
                    <a:srgbClr val="000000"/>
                  </a:solidFill>
                  <a:latin typeface="Playfair Display"/>
                  <a:ea typeface="Playfair Display"/>
                  <a:cs typeface="Playfair Display"/>
                  <a:sym typeface="Playfair Display"/>
                </a:rPr>
                <a:t>- 6000 events by month 12</a:t>
              </a:r>
            </a:p>
            <a:p>
              <a:pPr algn="l">
                <a:lnSpc>
                  <a:spcPts val="2937"/>
                </a:lnSpc>
              </a:pPr>
              <a:r>
                <a:rPr lang="en-US" sz="2277">
                  <a:solidFill>
                    <a:srgbClr val="000000"/>
                  </a:solidFill>
                  <a:latin typeface="Playfair Display"/>
                  <a:ea typeface="Playfair Display"/>
                  <a:cs typeface="Playfair Display"/>
                  <a:sym typeface="Playfair Display"/>
                </a:rPr>
                <a:t>- 4 – 5% of basket value; ~£0.45 </a:t>
              </a:r>
            </a:p>
            <a:p>
              <a:pPr algn="l">
                <a:lnSpc>
                  <a:spcPts val="2937"/>
                </a:lnSpc>
              </a:pPr>
              <a:endParaRPr lang="en-US" sz="2277">
                <a:solidFill>
                  <a:srgbClr val="000000"/>
                </a:solidFill>
                <a:latin typeface="Playfair Display"/>
                <a:ea typeface="Playfair Display"/>
                <a:cs typeface="Playfair Display"/>
                <a:sym typeface="Playfair Display"/>
              </a:endParaRPr>
            </a:p>
            <a:p>
              <a:pPr algn="l">
                <a:lnSpc>
                  <a:spcPts val="2937"/>
                </a:lnSpc>
              </a:pPr>
              <a:endParaRPr lang="en-US" sz="2277">
                <a:solidFill>
                  <a:srgbClr val="000000"/>
                </a:solidFill>
                <a:latin typeface="Playfair Display"/>
                <a:ea typeface="Playfair Display"/>
                <a:cs typeface="Playfair Display"/>
                <a:sym typeface="Playfair Display"/>
              </a:endParaRPr>
            </a:p>
          </p:txBody>
        </p:sp>
      </p:grpSp>
      <p:sp>
        <p:nvSpPr>
          <p:cNvPr id="26" name="TextBox 26"/>
          <p:cNvSpPr txBox="1"/>
          <p:nvPr/>
        </p:nvSpPr>
        <p:spPr>
          <a:xfrm>
            <a:off x="433758" y="478731"/>
            <a:ext cx="12608968"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Financial Model</a:t>
            </a:r>
          </a:p>
        </p:txBody>
      </p:sp>
      <p:sp>
        <p:nvSpPr>
          <p:cNvPr id="27" name="TextBox 27"/>
          <p:cNvSpPr txBox="1"/>
          <p:nvPr/>
        </p:nvSpPr>
        <p:spPr>
          <a:xfrm>
            <a:off x="750562" y="1562373"/>
            <a:ext cx="6390550"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Business Model Canvas</a:t>
            </a:r>
          </a:p>
        </p:txBody>
      </p:sp>
      <p:pic>
        <p:nvPicPr>
          <p:cNvPr id="28" name="Picture 28"/>
          <p:cNvPicPr>
            <a:picLocks noChangeAspect="1"/>
          </p:cNvPicPr>
          <p:nvPr/>
        </p:nvPicPr>
        <p:blipFill>
          <a:blip r:embed="rId5"/>
          <a:stretch>
            <a:fillRect/>
          </a:stretch>
        </p:blipFill>
        <p:spPr>
          <a:xfrm>
            <a:off x="11109500" y="1112125"/>
            <a:ext cx="7295640" cy="84890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8817190" y="654376"/>
            <a:ext cx="8110188" cy="8265160"/>
          </a:xfrm>
          <a:custGeom>
            <a:avLst/>
            <a:gdLst/>
            <a:ahLst/>
            <a:cxnLst/>
            <a:rect l="l" t="t" r="r" b="b"/>
            <a:pathLst>
              <a:path w="8110188" h="8265160">
                <a:moveTo>
                  <a:pt x="0" y="0"/>
                </a:moveTo>
                <a:lnTo>
                  <a:pt x="8110188" y="0"/>
                </a:lnTo>
                <a:lnTo>
                  <a:pt x="8110188" y="8265160"/>
                </a:lnTo>
                <a:lnTo>
                  <a:pt x="0" y="8265160"/>
                </a:lnTo>
                <a:lnTo>
                  <a:pt x="0" y="0"/>
                </a:lnTo>
                <a:close/>
              </a:path>
            </a:pathLst>
          </a:custGeom>
          <a:blipFill>
            <a:blip r:embed="rId4"/>
            <a:stretch>
              <a:fillRect/>
            </a:stretch>
          </a:blipFill>
        </p:spPr>
        <p:txBody>
          <a:bodyPr/>
          <a:lstStyle/>
          <a:p>
            <a:endParaRPr lang="en-US"/>
          </a:p>
        </p:txBody>
      </p:sp>
      <p:sp>
        <p:nvSpPr>
          <p:cNvPr id="9" name="Freeform 9"/>
          <p:cNvSpPr/>
          <p:nvPr/>
        </p:nvSpPr>
        <p:spPr>
          <a:xfrm>
            <a:off x="750562" y="2162448"/>
            <a:ext cx="7487078" cy="6757088"/>
          </a:xfrm>
          <a:custGeom>
            <a:avLst/>
            <a:gdLst/>
            <a:ahLst/>
            <a:cxnLst/>
            <a:rect l="l" t="t" r="r" b="b"/>
            <a:pathLst>
              <a:path w="7487078" h="6757088">
                <a:moveTo>
                  <a:pt x="0" y="0"/>
                </a:moveTo>
                <a:lnTo>
                  <a:pt x="7487078" y="0"/>
                </a:lnTo>
                <a:lnTo>
                  <a:pt x="7487078" y="6757088"/>
                </a:lnTo>
                <a:lnTo>
                  <a:pt x="0" y="6757088"/>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433758" y="478731"/>
            <a:ext cx="12608968"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Analysis</a:t>
            </a:r>
          </a:p>
        </p:txBody>
      </p:sp>
      <p:sp>
        <p:nvSpPr>
          <p:cNvPr id="11" name="TextBox 11"/>
          <p:cNvSpPr txBox="1"/>
          <p:nvPr/>
        </p:nvSpPr>
        <p:spPr>
          <a:xfrm>
            <a:off x="750562" y="1562373"/>
            <a:ext cx="12608968" cy="600075"/>
          </a:xfrm>
          <a:prstGeom prst="rect">
            <a:avLst/>
          </a:prstGeom>
        </p:spPr>
        <p:txBody>
          <a:bodyPr lIns="0" tIns="0" rIns="0" bIns="0" rtlCol="0" anchor="t">
            <a:spAutoFit/>
          </a:bodyPr>
          <a:lstStyle/>
          <a:p>
            <a:pPr algn="just">
              <a:lnSpc>
                <a:spcPts val="4500"/>
              </a:lnSpc>
            </a:pPr>
            <a:r>
              <a:rPr lang="en-US" sz="4500" b="1">
                <a:solidFill>
                  <a:srgbClr val="2E7040"/>
                </a:solidFill>
                <a:latin typeface="Playfair Display Bold"/>
                <a:ea typeface="Playfair Display Bold"/>
                <a:cs typeface="Playfair Display Bold"/>
                <a:sym typeface="Playfair Display Bold"/>
              </a:rPr>
              <a:t>PESTLE &amp; SWOT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653620" y="-255827"/>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5" name="Group 5"/>
          <p:cNvGrpSpPr/>
          <p:nvPr/>
        </p:nvGrpSpPr>
        <p:grpSpPr>
          <a:xfrm>
            <a:off x="-1052258" y="9091595"/>
            <a:ext cx="20392515" cy="3086100"/>
            <a:chOff x="0" y="0"/>
            <a:chExt cx="5370868" cy="812800"/>
          </a:xfrm>
        </p:grpSpPr>
        <p:sp>
          <p:nvSpPr>
            <p:cNvPr id="6" name="Freeform 6"/>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7" name="TextBox 7"/>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8" name="Freeform 8"/>
          <p:cNvSpPr/>
          <p:nvPr/>
        </p:nvSpPr>
        <p:spPr>
          <a:xfrm>
            <a:off x="5099734" y="3596972"/>
            <a:ext cx="8088532" cy="5494623"/>
          </a:xfrm>
          <a:custGeom>
            <a:avLst/>
            <a:gdLst/>
            <a:ahLst/>
            <a:cxnLst/>
            <a:rect l="l" t="t" r="r" b="b"/>
            <a:pathLst>
              <a:path w="8088532" h="5494623">
                <a:moveTo>
                  <a:pt x="0" y="0"/>
                </a:moveTo>
                <a:lnTo>
                  <a:pt x="8088532" y="0"/>
                </a:lnTo>
                <a:lnTo>
                  <a:pt x="8088532" y="5494623"/>
                </a:lnTo>
                <a:lnTo>
                  <a:pt x="0" y="5494623"/>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433758" y="478731"/>
            <a:ext cx="15138323" cy="1200150"/>
          </a:xfrm>
          <a:prstGeom prst="rect">
            <a:avLst/>
          </a:prstGeom>
        </p:spPr>
        <p:txBody>
          <a:bodyPr lIns="0" tIns="0" rIns="0" bIns="0" rtlCol="0" anchor="t">
            <a:spAutoFit/>
          </a:bodyPr>
          <a:lstStyle/>
          <a:p>
            <a:pPr algn="just">
              <a:lnSpc>
                <a:spcPts val="9000"/>
              </a:lnSpc>
            </a:pPr>
            <a:r>
              <a:rPr lang="en-US" sz="9000" b="1">
                <a:solidFill>
                  <a:srgbClr val="2E7040"/>
                </a:solidFill>
                <a:latin typeface="Playfair Display Bold"/>
                <a:ea typeface="Playfair Display Bold"/>
                <a:cs typeface="Playfair Display Bold"/>
                <a:sym typeface="Playfair Display Bold"/>
              </a:rPr>
              <a:t>Scalability &amp; Future Growth</a:t>
            </a:r>
          </a:p>
        </p:txBody>
      </p:sp>
      <p:sp>
        <p:nvSpPr>
          <p:cNvPr id="10" name="TextBox 10"/>
          <p:cNvSpPr txBox="1"/>
          <p:nvPr/>
        </p:nvSpPr>
        <p:spPr>
          <a:xfrm>
            <a:off x="1028700" y="3644597"/>
            <a:ext cx="3756709" cy="791807"/>
          </a:xfrm>
          <a:prstGeom prst="rect">
            <a:avLst/>
          </a:prstGeom>
        </p:spPr>
        <p:txBody>
          <a:bodyPr lIns="0" tIns="0" rIns="0" bIns="0" rtlCol="0" anchor="t">
            <a:spAutoFit/>
          </a:bodyPr>
          <a:lstStyle/>
          <a:p>
            <a:pPr algn="ctr">
              <a:lnSpc>
                <a:spcPts val="3048"/>
              </a:lnSpc>
            </a:pPr>
            <a:r>
              <a:rPr lang="en-US" sz="3048" b="1">
                <a:solidFill>
                  <a:srgbClr val="2E7040"/>
                </a:solidFill>
                <a:latin typeface="Playfair Display Bold"/>
                <a:ea typeface="Playfair Display Bold"/>
                <a:cs typeface="Playfair Display Bold"/>
                <a:sym typeface="Playfair Display Bold"/>
              </a:rPr>
              <a:t>AI Meal Planner &amp; Smart Shopping List</a:t>
            </a:r>
          </a:p>
        </p:txBody>
      </p:sp>
      <p:sp>
        <p:nvSpPr>
          <p:cNvPr id="11" name="TextBox 11"/>
          <p:cNvSpPr txBox="1"/>
          <p:nvPr/>
        </p:nvSpPr>
        <p:spPr>
          <a:xfrm>
            <a:off x="13501766" y="3644597"/>
            <a:ext cx="3757534" cy="791807"/>
          </a:xfrm>
          <a:prstGeom prst="rect">
            <a:avLst/>
          </a:prstGeom>
        </p:spPr>
        <p:txBody>
          <a:bodyPr lIns="0" tIns="0" rIns="0" bIns="0" rtlCol="0" anchor="t">
            <a:spAutoFit/>
          </a:bodyPr>
          <a:lstStyle/>
          <a:p>
            <a:pPr algn="ctr">
              <a:lnSpc>
                <a:spcPts val="3048"/>
              </a:lnSpc>
            </a:pPr>
            <a:r>
              <a:rPr lang="en-US" sz="3048" b="1">
                <a:solidFill>
                  <a:srgbClr val="2E7040"/>
                </a:solidFill>
                <a:latin typeface="Playfair Display Bold"/>
                <a:ea typeface="Playfair Display Bold"/>
                <a:cs typeface="Playfair Display Bold"/>
                <a:sym typeface="Playfair Display Bold"/>
              </a:rPr>
              <a:t>Grocery Delivery Services</a:t>
            </a:r>
          </a:p>
        </p:txBody>
      </p:sp>
      <p:sp>
        <p:nvSpPr>
          <p:cNvPr id="12" name="TextBox 12"/>
          <p:cNvSpPr txBox="1"/>
          <p:nvPr/>
        </p:nvSpPr>
        <p:spPr>
          <a:xfrm>
            <a:off x="474913" y="4842824"/>
            <a:ext cx="4864283" cy="2974345"/>
          </a:xfrm>
          <a:prstGeom prst="rect">
            <a:avLst/>
          </a:prstGeom>
        </p:spPr>
        <p:txBody>
          <a:bodyPr lIns="0" tIns="0" rIns="0" bIns="0" rtlCol="0" anchor="t">
            <a:spAutoFit/>
          </a:bodyPr>
          <a:lstStyle/>
          <a:p>
            <a:pPr algn="ctr">
              <a:lnSpc>
                <a:spcPts val="2937"/>
              </a:lnSpc>
            </a:pPr>
            <a:r>
              <a:rPr lang="en-US" sz="2277">
                <a:solidFill>
                  <a:srgbClr val="000000"/>
                </a:solidFill>
                <a:latin typeface="Playfair Display"/>
                <a:ea typeface="Playfair Display"/>
                <a:cs typeface="Playfair Display"/>
                <a:sym typeface="Playfair Display"/>
              </a:rPr>
              <a:t>create tailored weekly meal plans, including dietary requirements, allergies and health goals.</a:t>
            </a:r>
          </a:p>
          <a:p>
            <a:pPr algn="ctr">
              <a:lnSpc>
                <a:spcPts val="2937"/>
              </a:lnSpc>
            </a:pPr>
            <a:endParaRPr lang="en-US" sz="2277">
              <a:solidFill>
                <a:srgbClr val="000000"/>
              </a:solidFill>
              <a:latin typeface="Playfair Display"/>
              <a:ea typeface="Playfair Display"/>
              <a:cs typeface="Playfair Display"/>
              <a:sym typeface="Playfair Display"/>
            </a:endParaRPr>
          </a:p>
          <a:p>
            <a:pPr algn="ctr">
              <a:lnSpc>
                <a:spcPts val="2937"/>
              </a:lnSpc>
            </a:pPr>
            <a:r>
              <a:rPr lang="en-US" sz="2277">
                <a:solidFill>
                  <a:srgbClr val="000000"/>
                </a:solidFill>
                <a:latin typeface="Playfair Display"/>
                <a:ea typeface="Playfair Display"/>
                <a:cs typeface="Playfair Display"/>
                <a:sym typeface="Playfair Display"/>
              </a:rPr>
              <a:t>Auto populated shopping list, include all ingredients from weekly meal plan</a:t>
            </a:r>
          </a:p>
          <a:p>
            <a:pPr algn="ctr">
              <a:lnSpc>
                <a:spcPts val="2937"/>
              </a:lnSpc>
            </a:pPr>
            <a:endParaRPr lang="en-US" sz="2277">
              <a:solidFill>
                <a:srgbClr val="000000"/>
              </a:solidFill>
              <a:latin typeface="Playfair Display"/>
              <a:ea typeface="Playfair Display"/>
              <a:cs typeface="Playfair Display"/>
              <a:sym typeface="Playfair Display"/>
            </a:endParaRPr>
          </a:p>
        </p:txBody>
      </p:sp>
      <p:sp>
        <p:nvSpPr>
          <p:cNvPr id="13" name="TextBox 13"/>
          <p:cNvSpPr txBox="1"/>
          <p:nvPr/>
        </p:nvSpPr>
        <p:spPr>
          <a:xfrm>
            <a:off x="12948392" y="4592390"/>
            <a:ext cx="4864283" cy="3717295"/>
          </a:xfrm>
          <a:prstGeom prst="rect">
            <a:avLst/>
          </a:prstGeom>
        </p:spPr>
        <p:txBody>
          <a:bodyPr lIns="0" tIns="0" rIns="0" bIns="0" rtlCol="0" anchor="t">
            <a:spAutoFit/>
          </a:bodyPr>
          <a:lstStyle/>
          <a:p>
            <a:pPr algn="ctr">
              <a:lnSpc>
                <a:spcPts val="2937"/>
              </a:lnSpc>
            </a:pPr>
            <a:r>
              <a:rPr lang="en-US" sz="2277">
                <a:solidFill>
                  <a:srgbClr val="000000"/>
                </a:solidFill>
                <a:latin typeface="Playfair Display"/>
                <a:ea typeface="Playfair Display"/>
                <a:cs typeface="Playfair Display"/>
                <a:sym typeface="Playfair Display"/>
              </a:rPr>
              <a:t>Allowing users to send their shopping list and past purchases straight to the supermarkets, saving time and effort.</a:t>
            </a:r>
          </a:p>
          <a:p>
            <a:pPr algn="ctr">
              <a:lnSpc>
                <a:spcPts val="2937"/>
              </a:lnSpc>
            </a:pPr>
            <a:endParaRPr lang="en-US" sz="2277">
              <a:solidFill>
                <a:srgbClr val="000000"/>
              </a:solidFill>
              <a:latin typeface="Playfair Display"/>
              <a:ea typeface="Playfair Display"/>
              <a:cs typeface="Playfair Display"/>
              <a:sym typeface="Playfair Display"/>
            </a:endParaRPr>
          </a:p>
          <a:p>
            <a:pPr algn="ctr">
              <a:lnSpc>
                <a:spcPts val="2937"/>
              </a:lnSpc>
            </a:pPr>
            <a:r>
              <a:rPr lang="en-US" sz="2277">
                <a:solidFill>
                  <a:srgbClr val="000000"/>
                </a:solidFill>
                <a:latin typeface="Playfair Display"/>
                <a:ea typeface="Playfair Display"/>
                <a:cs typeface="Playfair Display"/>
                <a:sym typeface="Playfair Display"/>
              </a:rPr>
              <a:t>Transforms our application from basic food tracking to an end-end food management platform whilst reducing food waste. </a:t>
            </a:r>
          </a:p>
          <a:p>
            <a:pPr algn="ctr">
              <a:lnSpc>
                <a:spcPts val="2937"/>
              </a:lnSpc>
            </a:pPr>
            <a:endParaRPr lang="en-US" sz="2277">
              <a:solidFill>
                <a:srgbClr val="000000"/>
              </a:solidFill>
              <a:latin typeface="Playfair Display"/>
              <a:ea typeface="Playfair Display"/>
              <a:cs typeface="Playfair Display"/>
              <a:sym typeface="Playfair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489105" y="-604436"/>
            <a:ext cx="18941620" cy="10542827"/>
            <a:chOff x="0" y="0"/>
            <a:chExt cx="25255493" cy="14057103"/>
          </a:xfrm>
        </p:grpSpPr>
        <p:sp>
          <p:nvSpPr>
            <p:cNvPr id="3" name="Freeform 3"/>
            <p:cNvSpPr/>
            <p:nvPr/>
          </p:nvSpPr>
          <p:spPr>
            <a:xfrm>
              <a:off x="0" y="0"/>
              <a:ext cx="14057103" cy="14057103"/>
            </a:xfrm>
            <a:custGeom>
              <a:avLst/>
              <a:gdLst/>
              <a:ahLst/>
              <a:cxnLst/>
              <a:rect l="l" t="t" r="r" b="b"/>
              <a:pathLst>
                <a:path w="14057103" h="14057103">
                  <a:moveTo>
                    <a:pt x="0" y="0"/>
                  </a:moveTo>
                  <a:lnTo>
                    <a:pt x="14057103" y="0"/>
                  </a:lnTo>
                  <a:lnTo>
                    <a:pt x="14057103"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198391" y="0"/>
              <a:ext cx="14057103" cy="14057103"/>
            </a:xfrm>
            <a:custGeom>
              <a:avLst/>
              <a:gdLst/>
              <a:ahLst/>
              <a:cxnLst/>
              <a:rect l="l" t="t" r="r" b="b"/>
              <a:pathLst>
                <a:path w="14057103" h="14057103">
                  <a:moveTo>
                    <a:pt x="0" y="0"/>
                  </a:moveTo>
                  <a:lnTo>
                    <a:pt x="14057102" y="0"/>
                  </a:lnTo>
                  <a:lnTo>
                    <a:pt x="14057102" y="14057103"/>
                  </a:lnTo>
                  <a:lnTo>
                    <a:pt x="0" y="14057103"/>
                  </a:lnTo>
                  <a:lnTo>
                    <a:pt x="0" y="0"/>
                  </a:lnTo>
                  <a:close/>
                </a:path>
              </a:pathLst>
            </a:custGeom>
            <a:blipFill>
              <a:blip>
                <a:alphaModFix amt="6999"/>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5" name="Freeform 5"/>
          <p:cNvSpPr/>
          <p:nvPr/>
        </p:nvSpPr>
        <p:spPr>
          <a:xfrm>
            <a:off x="13841443" y="-696227"/>
            <a:ext cx="5433406" cy="7200900"/>
          </a:xfrm>
          <a:custGeom>
            <a:avLst/>
            <a:gdLst/>
            <a:ahLst/>
            <a:cxnLst/>
            <a:rect l="l" t="t" r="r" b="b"/>
            <a:pathLst>
              <a:path w="5433406" h="7200900">
                <a:moveTo>
                  <a:pt x="0" y="0"/>
                </a:moveTo>
                <a:lnTo>
                  <a:pt x="5433406" y="0"/>
                </a:lnTo>
                <a:lnTo>
                  <a:pt x="5433406" y="7200900"/>
                </a:lnTo>
                <a:lnTo>
                  <a:pt x="0" y="72009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1052258" y="9091595"/>
            <a:ext cx="20392515" cy="3086100"/>
            <a:chOff x="0" y="0"/>
            <a:chExt cx="5370868" cy="812800"/>
          </a:xfrm>
        </p:grpSpPr>
        <p:sp>
          <p:nvSpPr>
            <p:cNvPr id="7" name="Freeform 7"/>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8" name="TextBox 8"/>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9" name="Freeform 9"/>
          <p:cNvSpPr/>
          <p:nvPr/>
        </p:nvSpPr>
        <p:spPr>
          <a:xfrm>
            <a:off x="-3689700" y="3834748"/>
            <a:ext cx="10006269" cy="12564950"/>
          </a:xfrm>
          <a:custGeom>
            <a:avLst/>
            <a:gdLst/>
            <a:ahLst/>
            <a:cxnLst/>
            <a:rect l="l" t="t" r="r" b="b"/>
            <a:pathLst>
              <a:path w="10006269" h="12564950">
                <a:moveTo>
                  <a:pt x="0" y="0"/>
                </a:moveTo>
                <a:lnTo>
                  <a:pt x="10006269" y="0"/>
                </a:lnTo>
                <a:lnTo>
                  <a:pt x="10006269" y="12564950"/>
                </a:lnTo>
                <a:lnTo>
                  <a:pt x="0" y="125649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rot="291705">
            <a:off x="1145980" y="679622"/>
            <a:ext cx="2302717" cy="2865371"/>
          </a:xfrm>
          <a:custGeom>
            <a:avLst/>
            <a:gdLst/>
            <a:ahLst/>
            <a:cxnLst/>
            <a:rect l="l" t="t" r="r" b="b"/>
            <a:pathLst>
              <a:path w="2302717" h="2865371">
                <a:moveTo>
                  <a:pt x="0" y="0"/>
                </a:moveTo>
                <a:lnTo>
                  <a:pt x="2302717" y="0"/>
                </a:lnTo>
                <a:lnTo>
                  <a:pt x="2302717" y="2865371"/>
                </a:lnTo>
                <a:lnTo>
                  <a:pt x="0" y="286537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rot="2247298">
            <a:off x="14778728" y="7284647"/>
            <a:ext cx="4538402" cy="3303058"/>
          </a:xfrm>
          <a:custGeom>
            <a:avLst/>
            <a:gdLst/>
            <a:ahLst/>
            <a:cxnLst/>
            <a:rect l="l" t="t" r="r" b="b"/>
            <a:pathLst>
              <a:path w="4538402" h="3303058">
                <a:moveTo>
                  <a:pt x="0" y="0"/>
                </a:moveTo>
                <a:lnTo>
                  <a:pt x="4538402" y="0"/>
                </a:lnTo>
                <a:lnTo>
                  <a:pt x="4538402" y="3303058"/>
                </a:lnTo>
                <a:lnTo>
                  <a:pt x="0" y="330305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rot="-209809">
            <a:off x="5525212" y="-1632948"/>
            <a:ext cx="7237576" cy="4447820"/>
          </a:xfrm>
          <a:custGeom>
            <a:avLst/>
            <a:gdLst/>
            <a:ahLst/>
            <a:cxnLst/>
            <a:rect l="l" t="t" r="r" b="b"/>
            <a:pathLst>
              <a:path w="7237576" h="4447820">
                <a:moveTo>
                  <a:pt x="0" y="0"/>
                </a:moveTo>
                <a:lnTo>
                  <a:pt x="7237576" y="0"/>
                </a:lnTo>
                <a:lnTo>
                  <a:pt x="7237576" y="4447819"/>
                </a:lnTo>
                <a:lnTo>
                  <a:pt x="0" y="444781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3" name="TextBox 13"/>
          <p:cNvSpPr txBox="1"/>
          <p:nvPr/>
        </p:nvSpPr>
        <p:spPr>
          <a:xfrm>
            <a:off x="4438693" y="4472975"/>
            <a:ext cx="9086023" cy="1200150"/>
          </a:xfrm>
          <a:prstGeom prst="rect">
            <a:avLst/>
          </a:prstGeom>
        </p:spPr>
        <p:txBody>
          <a:bodyPr lIns="0" tIns="0" rIns="0" bIns="0" rtlCol="0" anchor="t">
            <a:spAutoFit/>
          </a:bodyPr>
          <a:lstStyle/>
          <a:p>
            <a:pPr algn="ctr">
              <a:lnSpc>
                <a:spcPts val="9000"/>
              </a:lnSpc>
            </a:pPr>
            <a:r>
              <a:rPr lang="en-US" sz="9000" b="1">
                <a:solidFill>
                  <a:srgbClr val="2E7040"/>
                </a:solidFill>
                <a:latin typeface="Playfair Display Bold"/>
                <a:ea typeface="Playfair Display Bold"/>
                <a:cs typeface="Playfair Display Bold"/>
                <a:sym typeface="Playfair Display Bold"/>
              </a:rPr>
              <a:t>Conclusion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DEF"/>
        </a:solidFill>
        <a:effectLst/>
      </p:bgPr>
    </p:bg>
    <p:spTree>
      <p:nvGrpSpPr>
        <p:cNvPr id="1" name=""/>
        <p:cNvGrpSpPr/>
        <p:nvPr/>
      </p:nvGrpSpPr>
      <p:grpSpPr>
        <a:xfrm>
          <a:off x="0" y="0"/>
          <a:ext cx="0" cy="0"/>
          <a:chOff x="0" y="0"/>
          <a:chExt cx="0" cy="0"/>
        </a:xfrm>
      </p:grpSpPr>
      <p:grpSp>
        <p:nvGrpSpPr>
          <p:cNvPr id="2" name="Group 2"/>
          <p:cNvGrpSpPr/>
          <p:nvPr/>
        </p:nvGrpSpPr>
        <p:grpSpPr>
          <a:xfrm>
            <a:off x="-1052258" y="9091595"/>
            <a:ext cx="20392515" cy="3086100"/>
            <a:chOff x="0" y="0"/>
            <a:chExt cx="5370868" cy="812800"/>
          </a:xfrm>
        </p:grpSpPr>
        <p:sp>
          <p:nvSpPr>
            <p:cNvPr id="3" name="Freeform 3"/>
            <p:cNvSpPr/>
            <p:nvPr/>
          </p:nvSpPr>
          <p:spPr>
            <a:xfrm>
              <a:off x="0" y="0"/>
              <a:ext cx="5370868" cy="812800"/>
            </a:xfrm>
            <a:custGeom>
              <a:avLst/>
              <a:gdLst/>
              <a:ahLst/>
              <a:cxnLst/>
              <a:rect l="l" t="t" r="r" b="b"/>
              <a:pathLst>
                <a:path w="5370868" h="812800">
                  <a:moveTo>
                    <a:pt x="0" y="0"/>
                  </a:moveTo>
                  <a:lnTo>
                    <a:pt x="5370868" y="0"/>
                  </a:lnTo>
                  <a:lnTo>
                    <a:pt x="5370868" y="812800"/>
                  </a:lnTo>
                  <a:lnTo>
                    <a:pt x="0" y="812800"/>
                  </a:lnTo>
                  <a:close/>
                </a:path>
              </a:pathLst>
            </a:custGeom>
            <a:solidFill>
              <a:srgbClr val="2E7040"/>
            </a:solidFill>
          </p:spPr>
          <p:txBody>
            <a:bodyPr/>
            <a:lstStyle/>
            <a:p>
              <a:endParaRPr lang="en-US"/>
            </a:p>
          </p:txBody>
        </p:sp>
        <p:sp>
          <p:nvSpPr>
            <p:cNvPr id="4" name="TextBox 4"/>
            <p:cNvSpPr txBox="1"/>
            <p:nvPr/>
          </p:nvSpPr>
          <p:spPr>
            <a:xfrm>
              <a:off x="0" y="-38100"/>
              <a:ext cx="5370868" cy="850900"/>
            </a:xfrm>
            <a:prstGeom prst="rect">
              <a:avLst/>
            </a:prstGeom>
          </p:spPr>
          <p:txBody>
            <a:bodyPr lIns="50800" tIns="50800" rIns="50800" bIns="50800" rtlCol="0" anchor="ctr"/>
            <a:lstStyle/>
            <a:p>
              <a:pPr algn="ctr">
                <a:lnSpc>
                  <a:spcPts val="2552"/>
                </a:lnSpc>
              </a:pPr>
              <a:endParaRPr/>
            </a:p>
          </p:txBody>
        </p:sp>
      </p:grpSp>
      <p:sp>
        <p:nvSpPr>
          <p:cNvPr id="5" name="Freeform 5"/>
          <p:cNvSpPr/>
          <p:nvPr/>
        </p:nvSpPr>
        <p:spPr>
          <a:xfrm>
            <a:off x="5411352" y="2951313"/>
            <a:ext cx="7465297" cy="5589269"/>
          </a:xfrm>
          <a:custGeom>
            <a:avLst/>
            <a:gdLst/>
            <a:ahLst/>
            <a:cxnLst/>
            <a:rect l="l" t="t" r="r" b="b"/>
            <a:pathLst>
              <a:path w="7465297" h="5589269">
                <a:moveTo>
                  <a:pt x="0" y="0"/>
                </a:moveTo>
                <a:lnTo>
                  <a:pt x="7465296" y="0"/>
                </a:lnTo>
                <a:lnTo>
                  <a:pt x="7465296" y="5589269"/>
                </a:lnTo>
                <a:lnTo>
                  <a:pt x="0" y="5589269"/>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4600988" y="514350"/>
            <a:ext cx="9086023" cy="1200150"/>
          </a:xfrm>
          <a:prstGeom prst="rect">
            <a:avLst/>
          </a:prstGeom>
        </p:spPr>
        <p:txBody>
          <a:bodyPr lIns="0" tIns="0" rIns="0" bIns="0" rtlCol="0" anchor="t">
            <a:spAutoFit/>
          </a:bodyPr>
          <a:lstStyle/>
          <a:p>
            <a:pPr algn="ctr">
              <a:lnSpc>
                <a:spcPts val="9000"/>
              </a:lnSpc>
            </a:pPr>
            <a:r>
              <a:rPr lang="en-US" sz="9000" b="1" spc="153">
                <a:solidFill>
                  <a:srgbClr val="2E7040"/>
                </a:solidFill>
                <a:latin typeface="Playfair Display Bold"/>
                <a:ea typeface="Playfair Display Bold"/>
                <a:cs typeface="Playfair Display Bold"/>
                <a:sym typeface="Playfair Display Bold"/>
              </a:rPr>
              <a:t>Reflection</a:t>
            </a:r>
          </a:p>
        </p:txBody>
      </p:sp>
      <p:sp>
        <p:nvSpPr>
          <p:cNvPr id="7" name="Freeform 7"/>
          <p:cNvSpPr/>
          <p:nvPr/>
        </p:nvSpPr>
        <p:spPr>
          <a:xfrm rot="3768749">
            <a:off x="-2333092" y="1295319"/>
            <a:ext cx="7006625" cy="4114800"/>
          </a:xfrm>
          <a:custGeom>
            <a:avLst/>
            <a:gdLst/>
            <a:ahLst/>
            <a:cxnLst/>
            <a:rect l="l" t="t" r="r" b="b"/>
            <a:pathLst>
              <a:path w="7006625" h="4114800">
                <a:moveTo>
                  <a:pt x="0" y="0"/>
                </a:moveTo>
                <a:lnTo>
                  <a:pt x="7006625" y="0"/>
                </a:lnTo>
                <a:lnTo>
                  <a:pt x="700662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2350484">
            <a:off x="13228719" y="5409138"/>
            <a:ext cx="7237576" cy="4447820"/>
          </a:xfrm>
          <a:custGeom>
            <a:avLst/>
            <a:gdLst/>
            <a:ahLst/>
            <a:cxnLst/>
            <a:rect l="l" t="t" r="r" b="b"/>
            <a:pathLst>
              <a:path w="7237576" h="4447820">
                <a:moveTo>
                  <a:pt x="0" y="0"/>
                </a:moveTo>
                <a:lnTo>
                  <a:pt x="7237576" y="0"/>
                </a:lnTo>
                <a:lnTo>
                  <a:pt x="7237576" y="4447820"/>
                </a:lnTo>
                <a:lnTo>
                  <a:pt x="0" y="444782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2410</Words>
  <Application>Microsoft Office PowerPoint</Application>
  <PresentationFormat>Custom</PresentationFormat>
  <Paragraphs>338</Paragraphs>
  <Slides>17</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Playfair Display Italics</vt:lpstr>
      <vt:lpstr>Montserrat</vt:lpstr>
      <vt:lpstr>Playfair Display Bold</vt:lpstr>
      <vt:lpstr>Arial</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and White Food Illustrative Group Project Presentation</dc:title>
  <dc:creator>marco</dc:creator>
  <cp:lastModifiedBy>Pereira Da Silva, Marco R</cp:lastModifiedBy>
  <cp:revision>2</cp:revision>
  <dcterms:created xsi:type="dcterms:W3CDTF">2006-08-16T00:00:00Z</dcterms:created>
  <dcterms:modified xsi:type="dcterms:W3CDTF">2026-06-17T19:13:55Z</dcterms:modified>
  <dc:identifier>DAG7q9JfH0A</dc:identifier>
</cp:coreProperties>
</file>